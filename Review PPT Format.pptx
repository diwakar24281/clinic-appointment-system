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8"/>
  </p:notesMasterIdLst>
  <p:handoutMasterIdLst>
    <p:handoutMasterId r:id="rId19"/>
  </p:handoutMasterIdLst>
  <p:sldIdLst>
    <p:sldId id="261" r:id="rId2"/>
    <p:sldId id="290" r:id="rId3"/>
    <p:sldId id="301" r:id="rId4"/>
    <p:sldId id="293" r:id="rId5"/>
    <p:sldId id="279" r:id="rId6"/>
    <p:sldId id="281" r:id="rId7"/>
    <p:sldId id="282" r:id="rId8"/>
    <p:sldId id="294" r:id="rId9"/>
    <p:sldId id="298" r:id="rId10"/>
    <p:sldId id="284" r:id="rId11"/>
    <p:sldId id="297" r:id="rId12"/>
    <p:sldId id="299" r:id="rId13"/>
    <p:sldId id="285" r:id="rId14"/>
    <p:sldId id="300" r:id="rId15"/>
    <p:sldId id="303" r:id="rId16"/>
    <p:sldId id="30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DAY KIRAN PALAGIRI" initials="UKP" lastIdx="1" clrIdx="0">
    <p:extLst>
      <p:ext uri="{19B8F6BF-5375-455C-9EA6-DF929625EA0E}">
        <p15:presenceInfo xmlns:p15="http://schemas.microsoft.com/office/powerpoint/2012/main" userId="e472569547126c1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590" autoAdjust="0"/>
  </p:normalViewPr>
  <p:slideViewPr>
    <p:cSldViewPr>
      <p:cViewPr varScale="1">
        <p:scale>
          <a:sx n="69" d="100"/>
          <a:sy n="69" d="100"/>
        </p:scale>
        <p:origin x="142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10/4/2024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10/4/2024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238FA3-189B-4AA8-9E46-1FED810FB611}" type="slidenum">
              <a:rPr lang="en-US" smtClean="0"/>
              <a:pPr/>
              <a:t>6</a:t>
            </a:fld>
            <a:endParaRPr lang="en-US"/>
          </a:p>
        </p:txBody>
      </p:sp>
    </p:spTree>
    <p:extLst>
      <p:ext uri="{BB962C8B-B14F-4D97-AF65-F5344CB8AC3E}">
        <p14:creationId xmlns:p14="http://schemas.microsoft.com/office/powerpoint/2010/main" val="2157429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D1C7523-A487-4FE9-8778-92BDA7517582}" type="datetime3">
              <a:rPr lang="en-US" smtClean="0"/>
              <a:t>4 October 2024</a:t>
            </a:fld>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
        <p:nvSpPr>
          <p:cNvPr id="7" name="Footer Placeholder 4">
            <a:extLst>
              <a:ext uri="{FF2B5EF4-FFF2-40B4-BE49-F238E27FC236}">
                <a16:creationId xmlns:a16="http://schemas.microsoft.com/office/drawing/2014/main" id="{4D367A52-E3CF-44E7-B0BD-2053F5B16016}"/>
              </a:ext>
            </a:extLst>
          </p:cNvPr>
          <p:cNvSpPr>
            <a:spLocks noGrp="1"/>
          </p:cNvSpPr>
          <p:nvPr>
            <p:ph type="ftr" sz="quarter" idx="4294967295"/>
          </p:nvPr>
        </p:nvSpPr>
        <p:spPr>
          <a:xfrm>
            <a:off x="2857500" y="6356350"/>
            <a:ext cx="3429000" cy="365125"/>
          </a:xfrm>
          <a:prstGeom prst="rect">
            <a:avLst/>
          </a:prstGeom>
        </p:spPr>
        <p:txBody>
          <a:bodyPr/>
          <a:lstStyle>
            <a:lvl1pPr algn="ctr">
              <a:defRPr sz="1000">
                <a:solidFill>
                  <a:schemeClr val="bg1">
                    <a:lumMod val="50000"/>
                  </a:schemeClr>
                </a:solidFill>
              </a:defRPr>
            </a:lvl1pPr>
          </a:lstStyle>
          <a:p>
            <a:r>
              <a:rPr lang="en-US"/>
              <a:t>Department of Computer Science and Engineering</a:t>
            </a:r>
            <a:endParaRPr lang="en-US" b="1" dirty="0"/>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FEC64D-F80B-464F-89C3-2C0C7C294EBF}" type="datetime3">
              <a:rPr lang="en-US" smtClean="0"/>
              <a:t>4 October 2024</a:t>
            </a:fld>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
        <p:nvSpPr>
          <p:cNvPr id="7" name="Footer Placeholder 4">
            <a:extLst>
              <a:ext uri="{FF2B5EF4-FFF2-40B4-BE49-F238E27FC236}">
                <a16:creationId xmlns:a16="http://schemas.microsoft.com/office/drawing/2014/main" id="{A885EDBD-DC0D-4DCF-81FB-0320C8338C0A}"/>
              </a:ext>
            </a:extLst>
          </p:cNvPr>
          <p:cNvSpPr>
            <a:spLocks noGrp="1"/>
          </p:cNvSpPr>
          <p:nvPr>
            <p:ph type="ftr" sz="quarter" idx="4294967295"/>
          </p:nvPr>
        </p:nvSpPr>
        <p:spPr>
          <a:xfrm>
            <a:off x="2906661" y="6356350"/>
            <a:ext cx="3429000" cy="365125"/>
          </a:xfrm>
          <a:prstGeom prst="rect">
            <a:avLst/>
          </a:prstGeom>
        </p:spPr>
        <p:txBody>
          <a:bodyPr/>
          <a:lstStyle>
            <a:lvl1pPr algn="ctr">
              <a:defRPr sz="1000">
                <a:solidFill>
                  <a:schemeClr val="bg1">
                    <a:lumMod val="50000"/>
                  </a:schemeClr>
                </a:solidFill>
              </a:defRPr>
            </a:lvl1pPr>
          </a:lstStyle>
          <a:p>
            <a:r>
              <a:rPr lang="en-US"/>
              <a:t>Department of Computer Science and Engineering</a:t>
            </a:r>
            <a:endParaRPr lang="en-US" b="1" dirty="0"/>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DF65C4-3BB2-4B01-820C-4E42CDD2D7BA}" type="datetime3">
              <a:rPr lang="en-US" smtClean="0"/>
              <a:t>4 October 2024</a:t>
            </a:fld>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
        <p:nvSpPr>
          <p:cNvPr id="7" name="Footer Placeholder 4">
            <a:extLst>
              <a:ext uri="{FF2B5EF4-FFF2-40B4-BE49-F238E27FC236}">
                <a16:creationId xmlns:a16="http://schemas.microsoft.com/office/drawing/2014/main" id="{28E260E4-5885-4162-9A9B-BD4B1C73E969}"/>
              </a:ext>
            </a:extLst>
          </p:cNvPr>
          <p:cNvSpPr>
            <a:spLocks noGrp="1"/>
          </p:cNvSpPr>
          <p:nvPr>
            <p:ph type="ftr" sz="quarter" idx="4294967295"/>
          </p:nvPr>
        </p:nvSpPr>
        <p:spPr>
          <a:xfrm>
            <a:off x="2894013" y="6389431"/>
            <a:ext cx="3429000" cy="365125"/>
          </a:xfrm>
          <a:prstGeom prst="rect">
            <a:avLst/>
          </a:prstGeom>
        </p:spPr>
        <p:txBody>
          <a:bodyPr/>
          <a:lstStyle>
            <a:lvl1pPr algn="ctr">
              <a:defRPr sz="1000">
                <a:solidFill>
                  <a:schemeClr val="bg1">
                    <a:lumMod val="50000"/>
                  </a:schemeClr>
                </a:solidFill>
              </a:defRPr>
            </a:lvl1pPr>
          </a:lstStyle>
          <a:p>
            <a:r>
              <a:rPr lang="en-US"/>
              <a:t>Department of Computer Science and Engineering</a:t>
            </a:r>
            <a:endParaRPr lang="en-US" b="1" dirty="0"/>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1F3940-8A3E-4B8C-BA89-72544308E101}" type="datetime3">
              <a:rPr lang="en-US" smtClean="0"/>
              <a:t>4 October 2024</a:t>
            </a:fld>
            <a:endParaRPr lang="en-US"/>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
        <p:nvSpPr>
          <p:cNvPr id="8" name="Footer Placeholder 4">
            <a:extLst>
              <a:ext uri="{FF2B5EF4-FFF2-40B4-BE49-F238E27FC236}">
                <a16:creationId xmlns:a16="http://schemas.microsoft.com/office/drawing/2014/main" id="{F8B22EFA-7C55-4B48-8CEC-77BD23D1F9A5}"/>
              </a:ext>
            </a:extLst>
          </p:cNvPr>
          <p:cNvSpPr>
            <a:spLocks noGrp="1"/>
          </p:cNvSpPr>
          <p:nvPr>
            <p:ph type="ftr" sz="quarter" idx="4294967295"/>
          </p:nvPr>
        </p:nvSpPr>
        <p:spPr>
          <a:xfrm>
            <a:off x="2857500" y="6390968"/>
            <a:ext cx="3429000" cy="365125"/>
          </a:xfrm>
          <a:prstGeom prst="rect">
            <a:avLst/>
          </a:prstGeom>
        </p:spPr>
        <p:txBody>
          <a:bodyPr/>
          <a:lstStyle>
            <a:lvl1pPr algn="ctr">
              <a:defRPr sz="1000">
                <a:solidFill>
                  <a:schemeClr val="bg1">
                    <a:lumMod val="50000"/>
                  </a:schemeClr>
                </a:solidFill>
              </a:defRPr>
            </a:lvl1pPr>
          </a:lstStyle>
          <a:p>
            <a:r>
              <a:rPr lang="en-US"/>
              <a:t>Department of Computer Science and Engineering</a:t>
            </a:r>
            <a:endParaRPr lang="en-US" b="1" dirty="0"/>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5ED70D-4F90-46A2-A4D5-86B0366C7C54}" type="datetime3">
              <a:rPr lang="en-US" smtClean="0"/>
              <a:t>4 October 2024</a:t>
            </a:fld>
            <a:endParaRPr lang="en-US"/>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
        <p:nvSpPr>
          <p:cNvPr id="10" name="Footer Placeholder 4">
            <a:extLst>
              <a:ext uri="{FF2B5EF4-FFF2-40B4-BE49-F238E27FC236}">
                <a16:creationId xmlns:a16="http://schemas.microsoft.com/office/drawing/2014/main" id="{74314DE0-B936-4362-B52E-B063EB0F5BBC}"/>
              </a:ext>
            </a:extLst>
          </p:cNvPr>
          <p:cNvSpPr>
            <a:spLocks noGrp="1"/>
          </p:cNvSpPr>
          <p:nvPr>
            <p:ph type="ftr" sz="quarter" idx="4294967295"/>
          </p:nvPr>
        </p:nvSpPr>
        <p:spPr>
          <a:xfrm>
            <a:off x="2857500" y="6382722"/>
            <a:ext cx="3429000" cy="365125"/>
          </a:xfrm>
          <a:prstGeom prst="rect">
            <a:avLst/>
          </a:prstGeom>
        </p:spPr>
        <p:txBody>
          <a:bodyPr/>
          <a:lstStyle>
            <a:lvl1pPr algn="ctr">
              <a:defRPr sz="1000">
                <a:solidFill>
                  <a:schemeClr val="bg1">
                    <a:lumMod val="50000"/>
                  </a:schemeClr>
                </a:solidFill>
              </a:defRPr>
            </a:lvl1pPr>
          </a:lstStyle>
          <a:p>
            <a:r>
              <a:rPr lang="en-US"/>
              <a:t>Department of Computer Science and Engineering</a:t>
            </a:r>
            <a:endParaRPr lang="en-US" b="1" dirty="0"/>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484E7F-8CFC-484D-B36C-9771C89F821F}" type="datetime3">
              <a:rPr lang="en-US" smtClean="0"/>
              <a:t>4 October 2024</a:t>
            </a:fld>
            <a:endParaRPr lang="en-US"/>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
        <p:nvSpPr>
          <p:cNvPr id="6" name="Footer Placeholder 4">
            <a:extLst>
              <a:ext uri="{FF2B5EF4-FFF2-40B4-BE49-F238E27FC236}">
                <a16:creationId xmlns:a16="http://schemas.microsoft.com/office/drawing/2014/main" id="{48CB0626-7066-48BC-A8A8-03E38DC766BB}"/>
              </a:ext>
            </a:extLst>
          </p:cNvPr>
          <p:cNvSpPr>
            <a:spLocks noGrp="1"/>
          </p:cNvSpPr>
          <p:nvPr>
            <p:ph type="ftr" sz="quarter" idx="4294967295"/>
          </p:nvPr>
        </p:nvSpPr>
        <p:spPr>
          <a:xfrm>
            <a:off x="2857500" y="6356349"/>
            <a:ext cx="3429000" cy="365125"/>
          </a:xfrm>
          <a:prstGeom prst="rect">
            <a:avLst/>
          </a:prstGeom>
        </p:spPr>
        <p:txBody>
          <a:bodyPr/>
          <a:lstStyle>
            <a:lvl1pPr algn="ctr">
              <a:defRPr sz="1000">
                <a:solidFill>
                  <a:schemeClr val="bg1">
                    <a:lumMod val="50000"/>
                  </a:schemeClr>
                </a:solidFill>
              </a:defRPr>
            </a:lvl1pPr>
          </a:lstStyle>
          <a:p>
            <a:r>
              <a:rPr lang="en-US"/>
              <a:t>Department of Computer Science and Engineering</a:t>
            </a:r>
            <a:endParaRPr lang="en-US" b="1" dirty="0"/>
          </a:p>
        </p:txBody>
      </p:sp>
    </p:spTree>
    <p:extLst>
      <p:ext uri="{BB962C8B-B14F-4D97-AF65-F5344CB8AC3E}">
        <p14:creationId xmlns:p14="http://schemas.microsoft.com/office/powerpoint/2010/main" val="2788019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36F411-3972-A5E9-8F49-58607FEB3088}"/>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077200" y="201412"/>
            <a:ext cx="812675" cy="969606"/>
          </a:xfrm>
          <a:prstGeom prst="rect">
            <a:avLst/>
          </a:prstGeom>
        </p:spPr>
      </p:pic>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7F92B4-9B1E-4C15-8CEE-666DADDF8AF0}" type="datetime3">
              <a:rPr lang="en-US" smtClean="0"/>
              <a:t>4 October 2024</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healthline.com/health/diabetes" TargetMode="External"/><Relationship Id="rId2" Type="http://schemas.openxmlformats.org/officeDocument/2006/relationships/hyperlink" Target="https://archive.ics.uci.edu/ml/datasets/Early+stage+diabetes+risk+prediction+dataset" TargetMode="External"/><Relationship Id="rId1" Type="http://schemas.openxmlformats.org/officeDocument/2006/relationships/slideLayout" Target="../slideLayouts/slideLayout4.xml"/><Relationship Id="rId5" Type="http://schemas.openxmlformats.org/officeDocument/2006/relationships/hyperlink" Target="https://scikit-learn.org/stable/" TargetMode="External"/><Relationship Id="rId4" Type="http://schemas.openxmlformats.org/officeDocument/2006/relationships/hyperlink" Target="https://towardsdatascience.com/understanding-random-forest-58381e0602d2"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0"/>
            <a:ext cx="8229600" cy="4525963"/>
          </a:xfrm>
        </p:spPr>
        <p:txBody>
          <a:bodyPr/>
          <a:lstStyle/>
          <a:p>
            <a:pPr>
              <a:buNone/>
            </a:pPr>
            <a:r>
              <a:rPr lang="en-US" dirty="0"/>
              <a:t> </a:t>
            </a:r>
          </a:p>
        </p:txBody>
      </p:sp>
      <p:sp>
        <p:nvSpPr>
          <p:cNvPr id="7" name="Rectangle 6"/>
          <p:cNvSpPr/>
          <p:nvPr/>
        </p:nvSpPr>
        <p:spPr>
          <a:xfrm>
            <a:off x="641497" y="2209800"/>
            <a:ext cx="7924800" cy="1569660"/>
          </a:xfrm>
          <a:prstGeom prst="rect">
            <a:avLst/>
          </a:prstGeom>
        </p:spPr>
        <p:txBody>
          <a:bodyPr wrap="square">
            <a:spAutoFit/>
          </a:bodyPr>
          <a:lstStyle/>
          <a:p>
            <a:pPr algn="ctr">
              <a:lnSpc>
                <a:spcPct val="150000"/>
              </a:lnSpc>
            </a:pPr>
            <a:r>
              <a:rPr lang="en-US" sz="3200" b="1" dirty="0">
                <a:solidFill>
                  <a:schemeClr val="accent2">
                    <a:lumMod val="75000"/>
                  </a:schemeClr>
                </a:solidFill>
                <a:latin typeface="Arial" panose="020B0604020202020204" pitchFamily="34" charset="0"/>
                <a:cs typeface="Arial" panose="020B0604020202020204" pitchFamily="34" charset="0"/>
              </a:rPr>
              <a:t>Subject Code</a:t>
            </a:r>
          </a:p>
          <a:p>
            <a:pPr algn="ctr">
              <a:lnSpc>
                <a:spcPct val="150000"/>
              </a:lnSpc>
            </a:pPr>
            <a:r>
              <a:rPr lang="en-US" sz="3200" b="1" dirty="0">
                <a:solidFill>
                  <a:schemeClr val="accent2">
                    <a:lumMod val="75000"/>
                  </a:schemeClr>
                </a:solidFill>
                <a:latin typeface="Arial" panose="020B0604020202020204" pitchFamily="34" charset="0"/>
                <a:cs typeface="Arial" panose="020B0604020202020204" pitchFamily="34" charset="0"/>
              </a:rPr>
              <a:t>PT </a:t>
            </a:r>
            <a:r>
              <a:rPr lang="en-US" sz="3200" b="1" dirty="0" smtClean="0">
                <a:solidFill>
                  <a:schemeClr val="accent2">
                    <a:lumMod val="75000"/>
                  </a:schemeClr>
                </a:solidFill>
                <a:latin typeface="Arial" panose="020B0604020202020204" pitchFamily="34" charset="0"/>
                <a:cs typeface="Arial" panose="020B0604020202020204" pitchFamily="34" charset="0"/>
              </a:rPr>
              <a:t>I </a:t>
            </a:r>
            <a:r>
              <a:rPr lang="en-US" sz="3200" b="1" dirty="0">
                <a:solidFill>
                  <a:schemeClr val="accent2">
                    <a:lumMod val="75000"/>
                  </a:schemeClr>
                </a:solidFill>
                <a:latin typeface="Arial" panose="020B0604020202020204" pitchFamily="34" charset="0"/>
                <a:cs typeface="Arial" panose="020B0604020202020204" pitchFamily="34" charset="0"/>
              </a:rPr>
              <a:t>- INTERDISCIPLINARY PROJECT</a:t>
            </a:r>
          </a:p>
        </p:txBody>
      </p:sp>
      <p:sp>
        <p:nvSpPr>
          <p:cNvPr id="8" name="Rectangle 7"/>
          <p:cNvSpPr/>
          <p:nvPr/>
        </p:nvSpPr>
        <p:spPr>
          <a:xfrm>
            <a:off x="457200" y="5009198"/>
            <a:ext cx="5112490" cy="1529714"/>
          </a:xfrm>
          <a:prstGeom prst="rect">
            <a:avLst/>
          </a:prstGeom>
        </p:spPr>
        <p:txBody>
          <a:bodyPr wrap="square">
            <a:spAutoFit/>
          </a:bodyPr>
          <a:lstStyle/>
          <a:p>
            <a:pPr>
              <a:lnSpc>
                <a:spcPct val="150000"/>
              </a:lnSpc>
            </a:pPr>
            <a:r>
              <a:rPr lang="en-US" sz="1600" b="1" dirty="0">
                <a:latin typeface="Arial" pitchFamily="34" charset="0"/>
                <a:cs typeface="Arial" pitchFamily="34" charset="0"/>
              </a:rPr>
              <a:t>1. </a:t>
            </a:r>
            <a:r>
              <a:rPr lang="en-US" sz="1600" b="1" dirty="0" err="1">
                <a:latin typeface="Arial" pitchFamily="34" charset="0"/>
                <a:cs typeface="Arial" pitchFamily="34" charset="0"/>
              </a:rPr>
              <a:t>Pattan</a:t>
            </a:r>
            <a:r>
              <a:rPr lang="en-US" sz="1600" b="1" dirty="0">
                <a:latin typeface="Arial" pitchFamily="34" charset="0"/>
                <a:cs typeface="Arial" pitchFamily="34" charset="0"/>
              </a:rPr>
              <a:t> Abdul Kalam [ </a:t>
            </a:r>
            <a:r>
              <a:rPr lang="en-US" sz="1600" b="1" dirty="0" err="1">
                <a:latin typeface="Arial" pitchFamily="34" charset="0"/>
                <a:cs typeface="Arial" pitchFamily="34" charset="0"/>
              </a:rPr>
              <a:t>Reg.No</a:t>
            </a:r>
            <a:r>
              <a:rPr lang="en-US" sz="1600" b="1" dirty="0">
                <a:latin typeface="Arial" pitchFamily="34" charset="0"/>
                <a:cs typeface="Arial" pitchFamily="34" charset="0"/>
              </a:rPr>
              <a:t>. : 39110756 ]</a:t>
            </a:r>
          </a:p>
          <a:p>
            <a:pPr>
              <a:lnSpc>
                <a:spcPct val="150000"/>
              </a:lnSpc>
            </a:pPr>
            <a:r>
              <a:rPr lang="en-US" sz="1600" b="1" dirty="0">
                <a:latin typeface="Arial" pitchFamily="34" charset="0"/>
                <a:cs typeface="Arial" pitchFamily="34" charset="0"/>
              </a:rPr>
              <a:t>2. </a:t>
            </a:r>
            <a:r>
              <a:rPr lang="en-US" sz="1600" b="1" dirty="0" err="1">
                <a:latin typeface="Arial" pitchFamily="34" charset="0"/>
                <a:cs typeface="Arial" pitchFamily="34" charset="0"/>
              </a:rPr>
              <a:t>Pattan</a:t>
            </a:r>
            <a:r>
              <a:rPr lang="en-US" sz="1600" b="1" dirty="0">
                <a:latin typeface="Arial" pitchFamily="34" charset="0"/>
                <a:cs typeface="Arial" pitchFamily="34" charset="0"/>
              </a:rPr>
              <a:t> Abdul Kalam [ </a:t>
            </a:r>
            <a:r>
              <a:rPr lang="en-US" sz="1600" b="1" dirty="0" err="1">
                <a:latin typeface="Arial" pitchFamily="34" charset="0"/>
                <a:cs typeface="Arial" pitchFamily="34" charset="0"/>
              </a:rPr>
              <a:t>Reg.No</a:t>
            </a:r>
            <a:r>
              <a:rPr lang="en-US" sz="1600" b="1" dirty="0">
                <a:latin typeface="Arial" pitchFamily="34" charset="0"/>
                <a:cs typeface="Arial" pitchFamily="34" charset="0"/>
              </a:rPr>
              <a:t>. : 39110756 ]</a:t>
            </a:r>
          </a:p>
          <a:p>
            <a:pPr>
              <a:lnSpc>
                <a:spcPct val="150000"/>
              </a:lnSpc>
            </a:pPr>
            <a:endParaRPr lang="en-US" b="1" dirty="0">
              <a:latin typeface="Arial" pitchFamily="34" charset="0"/>
              <a:cs typeface="Arial" pitchFamily="34" charset="0"/>
            </a:endParaRPr>
          </a:p>
          <a:p>
            <a:pPr algn="ctr">
              <a:lnSpc>
                <a:spcPct val="150000"/>
              </a:lnSpc>
            </a:pPr>
            <a:endParaRPr lang="en-US" sz="1400" dirty="0">
              <a:latin typeface="Arial" pitchFamily="34" charset="0"/>
              <a:cs typeface="Arial" pitchFamily="34" charset="0"/>
            </a:endParaRPr>
          </a:p>
        </p:txBody>
      </p:sp>
      <p:sp>
        <p:nvSpPr>
          <p:cNvPr id="4" name="Date Placeholder 3">
            <a:extLst>
              <a:ext uri="{FF2B5EF4-FFF2-40B4-BE49-F238E27FC236}">
                <a16:creationId xmlns:a16="http://schemas.microsoft.com/office/drawing/2014/main" id="{450BD4C8-8F1C-450E-98BD-5D769418970F}"/>
              </a:ext>
            </a:extLst>
          </p:cNvPr>
          <p:cNvSpPr>
            <a:spLocks noGrp="1"/>
          </p:cNvSpPr>
          <p:nvPr>
            <p:ph type="dt" sz="half" idx="10"/>
          </p:nvPr>
        </p:nvSpPr>
        <p:spPr/>
        <p:txBody>
          <a:bodyPr/>
          <a:lstStyle/>
          <a:p>
            <a:fld id="{AF5D7F4B-9193-457D-9817-7BB1C17946D0}" type="datetime3">
              <a:rPr lang="en-US" smtClean="0"/>
              <a:t>4 October 2024</a:t>
            </a:fld>
            <a:endParaRPr lang="en-US"/>
          </a:p>
        </p:txBody>
      </p:sp>
      <p:sp>
        <p:nvSpPr>
          <p:cNvPr id="6" name="Slide Number Placeholder 5">
            <a:extLst>
              <a:ext uri="{FF2B5EF4-FFF2-40B4-BE49-F238E27FC236}">
                <a16:creationId xmlns:a16="http://schemas.microsoft.com/office/drawing/2014/main" id="{7F1C4EB7-8EDB-4EBE-9273-5F8107C6B564}"/>
              </a:ext>
            </a:extLst>
          </p:cNvPr>
          <p:cNvSpPr>
            <a:spLocks noGrp="1"/>
          </p:cNvSpPr>
          <p:nvPr>
            <p:ph type="sldNum" sz="quarter" idx="12"/>
          </p:nvPr>
        </p:nvSpPr>
        <p:spPr/>
        <p:txBody>
          <a:bodyPr/>
          <a:lstStyle/>
          <a:p>
            <a:fld id="{7B28076C-CE04-4A00-BFAA-A90EA8355859}" type="slidenum">
              <a:rPr lang="en-US" smtClean="0"/>
              <a:pPr/>
              <a:t>1</a:t>
            </a:fld>
            <a:endParaRPr lang="en-US"/>
          </a:p>
        </p:txBody>
      </p:sp>
      <p:pic>
        <p:nvPicPr>
          <p:cNvPr id="12" name="image2.jpeg">
            <a:extLst>
              <a:ext uri="{FF2B5EF4-FFF2-40B4-BE49-F238E27FC236}">
                <a16:creationId xmlns:a16="http://schemas.microsoft.com/office/drawing/2014/main" id="{41D730E6-1A36-D6AA-9C57-707732AD6B86}"/>
              </a:ext>
            </a:extLst>
          </p:cNvPr>
          <p:cNvPicPr/>
          <p:nvPr/>
        </p:nvPicPr>
        <p:blipFill>
          <a:blip r:embed="rId2" cstate="print"/>
          <a:stretch>
            <a:fillRect/>
          </a:stretch>
        </p:blipFill>
        <p:spPr>
          <a:xfrm>
            <a:off x="303028" y="183642"/>
            <a:ext cx="8598195" cy="1843595"/>
          </a:xfrm>
          <a:prstGeom prst="rect">
            <a:avLst/>
          </a:prstGeom>
          <a:ln>
            <a:solidFill>
              <a:srgbClr val="002060"/>
            </a:solidFill>
          </a:ln>
        </p:spPr>
      </p:pic>
      <p:sp>
        <p:nvSpPr>
          <p:cNvPr id="14" name="TextBox 13">
            <a:extLst>
              <a:ext uri="{FF2B5EF4-FFF2-40B4-BE49-F238E27FC236}">
                <a16:creationId xmlns:a16="http://schemas.microsoft.com/office/drawing/2014/main" id="{3D0983F1-418B-F172-25AC-56A554474B23}"/>
              </a:ext>
            </a:extLst>
          </p:cNvPr>
          <p:cNvSpPr txBox="1"/>
          <p:nvPr/>
        </p:nvSpPr>
        <p:spPr>
          <a:xfrm>
            <a:off x="2251445" y="3988369"/>
            <a:ext cx="4641110" cy="584775"/>
          </a:xfrm>
          <a:prstGeom prst="rect">
            <a:avLst/>
          </a:prstGeom>
          <a:noFill/>
        </p:spPr>
        <p:txBody>
          <a:bodyPr wrap="square">
            <a:spAutoFit/>
          </a:bodyPr>
          <a:lstStyle/>
          <a:p>
            <a:pPr algn="ctr"/>
            <a:r>
              <a:rPr lang="en-US" sz="3200" b="1" dirty="0">
                <a:solidFill>
                  <a:srgbClr val="7030A0"/>
                </a:solidFill>
              </a:rPr>
              <a:t>PROJECT TITLE</a:t>
            </a:r>
            <a:endParaRPr lang="en-IN" sz="3200" dirty="0"/>
          </a:p>
        </p:txBody>
      </p:sp>
      <p:sp>
        <p:nvSpPr>
          <p:cNvPr id="16" name="TextBox 15">
            <a:extLst>
              <a:ext uri="{FF2B5EF4-FFF2-40B4-BE49-F238E27FC236}">
                <a16:creationId xmlns:a16="http://schemas.microsoft.com/office/drawing/2014/main" id="{5E4EFADC-5F7F-0D34-EF41-FCA8211454DE}"/>
              </a:ext>
            </a:extLst>
          </p:cNvPr>
          <p:cNvSpPr txBox="1"/>
          <p:nvPr/>
        </p:nvSpPr>
        <p:spPr>
          <a:xfrm>
            <a:off x="5410200" y="5293702"/>
            <a:ext cx="4641110" cy="785343"/>
          </a:xfrm>
          <a:prstGeom prst="rect">
            <a:avLst/>
          </a:prstGeom>
          <a:noFill/>
        </p:spPr>
        <p:txBody>
          <a:bodyPr wrap="square">
            <a:spAutoFit/>
          </a:bodyPr>
          <a:lstStyle/>
          <a:p>
            <a:pPr>
              <a:lnSpc>
                <a:spcPct val="150000"/>
              </a:lnSpc>
            </a:pPr>
            <a:r>
              <a:rPr lang="en-US" sz="1600" b="1" dirty="0">
                <a:latin typeface="Arial" pitchFamily="34" charset="0"/>
                <a:cs typeface="Arial" pitchFamily="34" charset="0"/>
              </a:rPr>
              <a:t>Internal Guide</a:t>
            </a:r>
          </a:p>
          <a:p>
            <a:pPr>
              <a:lnSpc>
                <a:spcPct val="150000"/>
              </a:lnSpc>
            </a:pPr>
            <a:r>
              <a:rPr lang="en-US" sz="1600" b="1" dirty="0">
                <a:latin typeface="Arial" pitchFamily="34" charset="0"/>
                <a:cs typeface="Arial" pitchFamily="34" charset="0"/>
              </a:rPr>
              <a:t>Dr. R. Sathya Bama, M.E., Ph.D.,</a:t>
            </a:r>
          </a:p>
        </p:txBody>
      </p:sp>
      <p:sp>
        <p:nvSpPr>
          <p:cNvPr id="2" name="Footer Placeholder 1">
            <a:extLst>
              <a:ext uri="{FF2B5EF4-FFF2-40B4-BE49-F238E27FC236}">
                <a16:creationId xmlns:a16="http://schemas.microsoft.com/office/drawing/2014/main" id="{954E8BE6-5A97-DF17-64D3-651EDD17C775}"/>
              </a:ext>
            </a:extLst>
          </p:cNvPr>
          <p:cNvSpPr>
            <a:spLocks noGrp="1"/>
          </p:cNvSpPr>
          <p:nvPr>
            <p:ph type="ftr" sz="quarter" idx="4294967295"/>
          </p:nvPr>
        </p:nvSpPr>
        <p:spPr>
          <a:xfrm>
            <a:off x="2889398" y="6419380"/>
            <a:ext cx="3429000" cy="365125"/>
          </a:xfrm>
        </p:spPr>
        <p:txBody>
          <a:bodyPr/>
          <a:lstStyle/>
          <a:p>
            <a:r>
              <a:rPr lang="en-US" dirty="0"/>
              <a:t>Department of Computer Science and Engineering</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98525"/>
          </a:xfrm>
        </p:spPr>
        <p:txBody>
          <a:bodyPr>
            <a:normAutofit/>
          </a:bodyPr>
          <a:lstStyle/>
          <a:p>
            <a:pPr algn="l"/>
            <a:r>
              <a:rPr lang="en-US" sz="3600" b="1" dirty="0">
                <a:solidFill>
                  <a:srgbClr val="C00000"/>
                </a:solidFill>
                <a:cs typeface="Arial" pitchFamily="34" charset="0"/>
              </a:rPr>
              <a:t>                PRESENTATION OUTLINE</a:t>
            </a:r>
          </a:p>
        </p:txBody>
      </p:sp>
      <p:sp>
        <p:nvSpPr>
          <p:cNvPr id="3" name="Content Placeholder 2"/>
          <p:cNvSpPr>
            <a:spLocks noGrp="1"/>
          </p:cNvSpPr>
          <p:nvPr>
            <p:ph idx="1"/>
          </p:nvPr>
        </p:nvSpPr>
        <p:spPr>
          <a:xfrm>
            <a:off x="609600" y="1371600"/>
            <a:ext cx="8229600" cy="5105400"/>
          </a:xfrm>
        </p:spPr>
        <p:txBody>
          <a:bodyPr>
            <a:normAutofit fontScale="92500" lnSpcReduction="20000"/>
          </a:bodyPr>
          <a:lstStyle/>
          <a:p>
            <a:pPr>
              <a:lnSpc>
                <a:spcPct val="150000"/>
              </a:lnSpc>
            </a:pPr>
            <a:r>
              <a:rPr lang="en-US" sz="2600" dirty="0">
                <a:cs typeface="Arial" pitchFamily="34" charset="0"/>
              </a:rPr>
              <a:t>COURSE CERTIFICATE</a:t>
            </a:r>
          </a:p>
          <a:p>
            <a:pPr>
              <a:lnSpc>
                <a:spcPct val="150000"/>
              </a:lnSpc>
            </a:pPr>
            <a:r>
              <a:rPr lang="en-US" sz="2600" dirty="0">
                <a:cs typeface="Arial" pitchFamily="34" charset="0"/>
              </a:rPr>
              <a:t>ABSTRACT</a:t>
            </a:r>
          </a:p>
          <a:p>
            <a:pPr>
              <a:lnSpc>
                <a:spcPct val="150000"/>
              </a:lnSpc>
            </a:pPr>
            <a:r>
              <a:rPr lang="en-US" sz="2600" dirty="0">
                <a:cs typeface="Arial" pitchFamily="34" charset="0"/>
              </a:rPr>
              <a:t>OBJECTIVES</a:t>
            </a:r>
          </a:p>
          <a:p>
            <a:pPr>
              <a:lnSpc>
                <a:spcPct val="150000"/>
              </a:lnSpc>
            </a:pPr>
            <a:r>
              <a:rPr lang="en-US" sz="2600" dirty="0">
                <a:cs typeface="Arial" pitchFamily="34" charset="0"/>
              </a:rPr>
              <a:t>SYSTEM ARCHITECTURE </a:t>
            </a:r>
          </a:p>
          <a:p>
            <a:pPr>
              <a:lnSpc>
                <a:spcPct val="150000"/>
              </a:lnSpc>
            </a:pPr>
            <a:r>
              <a:rPr lang="en-US" sz="2600" dirty="0">
                <a:cs typeface="Arial" pitchFamily="34" charset="0"/>
              </a:rPr>
              <a:t>PROJECT IMPLEMENTATION</a:t>
            </a:r>
          </a:p>
          <a:p>
            <a:pPr>
              <a:lnSpc>
                <a:spcPct val="150000"/>
              </a:lnSpc>
            </a:pPr>
            <a:r>
              <a:rPr lang="en-US" sz="2600" dirty="0">
                <a:cs typeface="Arial" pitchFamily="34" charset="0"/>
              </a:rPr>
              <a:t>RESULTS AND DISCUSSIONS</a:t>
            </a:r>
          </a:p>
          <a:p>
            <a:pPr>
              <a:lnSpc>
                <a:spcPct val="150000"/>
              </a:lnSpc>
            </a:pPr>
            <a:r>
              <a:rPr lang="en-US" sz="2600" dirty="0">
                <a:cs typeface="Arial" pitchFamily="34" charset="0"/>
              </a:rPr>
              <a:t>RESULT SNAPSHOTS</a:t>
            </a:r>
          </a:p>
          <a:p>
            <a:pPr>
              <a:lnSpc>
                <a:spcPct val="150000"/>
              </a:lnSpc>
            </a:pPr>
            <a:r>
              <a:rPr lang="en-US" sz="2600" dirty="0">
                <a:cs typeface="Arial" pitchFamily="34" charset="0"/>
              </a:rPr>
              <a:t>CONCLUSION &amp; FUTURE WORK</a:t>
            </a:r>
          </a:p>
          <a:p>
            <a:pPr>
              <a:lnSpc>
                <a:spcPct val="150000"/>
              </a:lnSpc>
            </a:pPr>
            <a:r>
              <a:rPr lang="en-US" sz="2600" dirty="0">
                <a:cs typeface="Arial" pitchFamily="34" charset="0"/>
              </a:rPr>
              <a:t>REFERENCES</a:t>
            </a:r>
          </a:p>
          <a:p>
            <a:endParaRPr lang="en-US" dirty="0"/>
          </a:p>
        </p:txBody>
      </p:sp>
      <p:sp>
        <p:nvSpPr>
          <p:cNvPr id="4" name="Date Placeholder 3"/>
          <p:cNvSpPr>
            <a:spLocks noGrp="1"/>
          </p:cNvSpPr>
          <p:nvPr>
            <p:ph type="dt" sz="half" idx="10"/>
          </p:nvPr>
        </p:nvSpPr>
        <p:spPr/>
        <p:txBody>
          <a:bodyPr/>
          <a:lstStyle/>
          <a:p>
            <a:fld id="{0DC0FFE7-5AD9-46B6-A975-97DF4CE2D32E}" type="datetime3">
              <a:rPr lang="en-US" smtClean="0"/>
              <a:t>4 October 2024</a:t>
            </a:fld>
            <a:endParaRPr lang="en-US" dirty="0"/>
          </a:p>
        </p:txBody>
      </p:sp>
      <p:sp>
        <p:nvSpPr>
          <p:cNvPr id="6" name="Slide Number Placeholder 5"/>
          <p:cNvSpPr>
            <a:spLocks noGrp="1"/>
          </p:cNvSpPr>
          <p:nvPr>
            <p:ph type="sldNum" sz="quarter" idx="12"/>
          </p:nvPr>
        </p:nvSpPr>
        <p:spPr/>
        <p:txBody>
          <a:bodyPr/>
          <a:lstStyle/>
          <a:p>
            <a:fld id="{C0EC1BDC-9B67-430D-970A-E36C75175141}" type="slidenum">
              <a:rPr lang="en-US" smtClean="0"/>
              <a:pPr/>
              <a:t>2</a:t>
            </a:fld>
            <a:endParaRPr lang="en-US"/>
          </a:p>
        </p:txBody>
      </p:sp>
      <p:sp>
        <p:nvSpPr>
          <p:cNvPr id="7" name="Footer Placeholder 6">
            <a:extLst>
              <a:ext uri="{FF2B5EF4-FFF2-40B4-BE49-F238E27FC236}">
                <a16:creationId xmlns:a16="http://schemas.microsoft.com/office/drawing/2014/main" id="{036745B3-6D82-53EF-2AF2-EA2FFE738CDB}"/>
              </a:ext>
            </a:extLst>
          </p:cNvPr>
          <p:cNvSpPr>
            <a:spLocks noGrp="1"/>
          </p:cNvSpPr>
          <p:nvPr>
            <p:ph type="ftr" sz="quarter" idx="4294967295"/>
          </p:nvPr>
        </p:nvSpPr>
        <p:spPr>
          <a:xfrm>
            <a:off x="2968256" y="6477000"/>
            <a:ext cx="3429000" cy="365125"/>
          </a:xfrm>
        </p:spPr>
        <p:txBody>
          <a:bodyPr/>
          <a:lstStyle/>
          <a:p>
            <a:r>
              <a:rPr lang="en-US" dirty="0"/>
              <a:t>Department of Computer Science and Engineering</a:t>
            </a:r>
            <a:endParaRPr 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7AFF-3BB7-4D8A-B9C5-8F3B0AEE6AD3}"/>
              </a:ext>
            </a:extLst>
          </p:cNvPr>
          <p:cNvSpPr>
            <a:spLocks noGrp="1"/>
          </p:cNvSpPr>
          <p:nvPr>
            <p:ph type="title"/>
          </p:nvPr>
        </p:nvSpPr>
        <p:spPr>
          <a:xfrm>
            <a:off x="304800" y="282575"/>
            <a:ext cx="8229600" cy="838200"/>
          </a:xfrm>
        </p:spPr>
        <p:txBody>
          <a:bodyPr>
            <a:normAutofit/>
          </a:bodyPr>
          <a:lstStyle/>
          <a:p>
            <a:r>
              <a:rPr lang="en-IN" sz="3600" b="1" dirty="0">
                <a:solidFill>
                  <a:srgbClr val="C00000"/>
                </a:solidFill>
              </a:rPr>
              <a:t>COURSE CERTIFICATE</a:t>
            </a:r>
          </a:p>
        </p:txBody>
      </p:sp>
      <p:sp>
        <p:nvSpPr>
          <p:cNvPr id="4" name="Date Placeholder 3">
            <a:extLst>
              <a:ext uri="{FF2B5EF4-FFF2-40B4-BE49-F238E27FC236}">
                <a16:creationId xmlns:a16="http://schemas.microsoft.com/office/drawing/2014/main" id="{0FA9D9BB-15EC-4B1C-83FD-B26D5A9132AA}"/>
              </a:ext>
            </a:extLst>
          </p:cNvPr>
          <p:cNvSpPr>
            <a:spLocks noGrp="1"/>
          </p:cNvSpPr>
          <p:nvPr>
            <p:ph type="dt" sz="half" idx="10"/>
          </p:nvPr>
        </p:nvSpPr>
        <p:spPr/>
        <p:txBody>
          <a:bodyPr/>
          <a:lstStyle/>
          <a:p>
            <a:fld id="{9F1A4416-FFF4-42E4-AE7E-59EC91C8B19B}" type="datetime3">
              <a:rPr lang="en-US" smtClean="0"/>
              <a:t>4 October 2024</a:t>
            </a:fld>
            <a:endParaRPr lang="en-US"/>
          </a:p>
        </p:txBody>
      </p:sp>
      <p:sp>
        <p:nvSpPr>
          <p:cNvPr id="6" name="Slide Number Placeholder 5">
            <a:extLst>
              <a:ext uri="{FF2B5EF4-FFF2-40B4-BE49-F238E27FC236}">
                <a16:creationId xmlns:a16="http://schemas.microsoft.com/office/drawing/2014/main" id="{EDF5E134-5B36-43B6-B88A-0BD46D92CA57}"/>
              </a:ext>
            </a:extLst>
          </p:cNvPr>
          <p:cNvSpPr>
            <a:spLocks noGrp="1"/>
          </p:cNvSpPr>
          <p:nvPr>
            <p:ph type="sldNum" sz="quarter" idx="12"/>
          </p:nvPr>
        </p:nvSpPr>
        <p:spPr/>
        <p:txBody>
          <a:bodyPr/>
          <a:lstStyle/>
          <a:p>
            <a:fld id="{7B28076C-CE04-4A00-BFAA-A90EA8355859}" type="slidenum">
              <a:rPr lang="en-US" smtClean="0"/>
              <a:pPr/>
              <a:t>3</a:t>
            </a:fld>
            <a:endParaRPr lang="en-US" dirty="0"/>
          </a:p>
        </p:txBody>
      </p:sp>
      <p:pic>
        <p:nvPicPr>
          <p:cNvPr id="10" name="Content Placeholder 9" descr="A picture containing text, businesscard&#10;&#10;Description automatically generated">
            <a:extLst>
              <a:ext uri="{FF2B5EF4-FFF2-40B4-BE49-F238E27FC236}">
                <a16:creationId xmlns:a16="http://schemas.microsoft.com/office/drawing/2014/main" id="{5B975D05-FDC3-4431-B88B-62AE898E05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295400"/>
            <a:ext cx="7620000" cy="5060950"/>
          </a:xfrm>
        </p:spPr>
      </p:pic>
      <p:sp>
        <p:nvSpPr>
          <p:cNvPr id="5" name="Footer Placeholder 4">
            <a:extLst>
              <a:ext uri="{FF2B5EF4-FFF2-40B4-BE49-F238E27FC236}">
                <a16:creationId xmlns:a16="http://schemas.microsoft.com/office/drawing/2014/main" id="{1B099574-1770-CCF1-7960-2BEABBE58EC8}"/>
              </a:ext>
            </a:extLst>
          </p:cNvPr>
          <p:cNvSpPr>
            <a:spLocks noGrp="1"/>
          </p:cNvSpPr>
          <p:nvPr>
            <p:ph type="ftr" sz="quarter" idx="4294967295"/>
          </p:nvPr>
        </p:nvSpPr>
        <p:spPr>
          <a:xfrm>
            <a:off x="2971800" y="6490955"/>
            <a:ext cx="3429000" cy="365125"/>
          </a:xfrm>
        </p:spPr>
        <p:txBody>
          <a:bodyPr/>
          <a:lstStyle/>
          <a:p>
            <a:r>
              <a:rPr lang="en-US" dirty="0"/>
              <a:t>Department of Computer Science and Engineering</a:t>
            </a:r>
            <a:endParaRPr lang="en-US" b="1" dirty="0"/>
          </a:p>
        </p:txBody>
      </p:sp>
    </p:spTree>
    <p:extLst>
      <p:ext uri="{BB962C8B-B14F-4D97-AF65-F5344CB8AC3E}">
        <p14:creationId xmlns:p14="http://schemas.microsoft.com/office/powerpoint/2010/main" val="1250975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E11B5-EF77-467A-8E2A-BB4AD0D87B13}"/>
              </a:ext>
            </a:extLst>
          </p:cNvPr>
          <p:cNvSpPr>
            <a:spLocks noGrp="1"/>
          </p:cNvSpPr>
          <p:nvPr>
            <p:ph type="title"/>
          </p:nvPr>
        </p:nvSpPr>
        <p:spPr>
          <a:xfrm>
            <a:off x="298940" y="282575"/>
            <a:ext cx="8229600" cy="838200"/>
          </a:xfrm>
        </p:spPr>
        <p:txBody>
          <a:bodyPr>
            <a:normAutofit/>
          </a:bodyPr>
          <a:lstStyle/>
          <a:p>
            <a:r>
              <a:rPr lang="en-IN" sz="3600" b="1" dirty="0">
                <a:solidFill>
                  <a:srgbClr val="C00000"/>
                </a:solidFill>
              </a:rPr>
              <a:t>ABSTRACT</a:t>
            </a:r>
          </a:p>
        </p:txBody>
      </p:sp>
      <p:sp>
        <p:nvSpPr>
          <p:cNvPr id="3" name="Content Placeholder 2">
            <a:extLst>
              <a:ext uri="{FF2B5EF4-FFF2-40B4-BE49-F238E27FC236}">
                <a16:creationId xmlns:a16="http://schemas.microsoft.com/office/drawing/2014/main" id="{59EF7A90-AAE4-4CE3-8BFD-8CCF7FBE10DD}"/>
              </a:ext>
            </a:extLst>
          </p:cNvPr>
          <p:cNvSpPr>
            <a:spLocks noGrp="1"/>
          </p:cNvSpPr>
          <p:nvPr>
            <p:ph idx="1"/>
          </p:nvPr>
        </p:nvSpPr>
        <p:spPr>
          <a:xfrm>
            <a:off x="491613" y="914400"/>
            <a:ext cx="8229600" cy="5943600"/>
          </a:xfrm>
        </p:spPr>
        <p:txBody>
          <a:bodyPr>
            <a:normAutofit/>
          </a:bodyPr>
          <a:lstStyle/>
          <a:p>
            <a:endParaRPr lang="en-US" sz="2000" dirty="0"/>
          </a:p>
          <a:p>
            <a:pPr algn="just">
              <a:lnSpc>
                <a:spcPct val="150000"/>
              </a:lnSpc>
            </a:pPr>
            <a:r>
              <a:rPr lang="en-US" sz="2400" dirty="0"/>
              <a:t>Diabetes is a chronic disease that is caused due to the inability of the production of insulin by the body.</a:t>
            </a:r>
          </a:p>
          <a:p>
            <a:pPr algn="just">
              <a:lnSpc>
                <a:spcPct val="150000"/>
              </a:lnSpc>
            </a:pPr>
            <a:r>
              <a:rPr lang="en-US" sz="2400" dirty="0"/>
              <a:t>Early prediction of such disease helpful for control over it. </a:t>
            </a:r>
          </a:p>
          <a:p>
            <a:pPr algn="just">
              <a:lnSpc>
                <a:spcPct val="150000"/>
              </a:lnSpc>
            </a:pPr>
            <a:r>
              <a:rPr lang="en-US" sz="2400" dirty="0"/>
              <a:t>To achieve this goal we gathered  a diagnostic dataset having 17 attributes of 520 patients. </a:t>
            </a:r>
          </a:p>
          <a:p>
            <a:pPr algn="just">
              <a:lnSpc>
                <a:spcPct val="150000"/>
              </a:lnSpc>
            </a:pPr>
            <a:r>
              <a:rPr lang="en-US" sz="2400" dirty="0"/>
              <a:t>Based on this attributes, we figured to use Random Forest Classifier Algorithm for the diabetes prediction.</a:t>
            </a:r>
          </a:p>
          <a:p>
            <a:pPr algn="just">
              <a:lnSpc>
                <a:spcPct val="150000"/>
              </a:lnSpc>
            </a:pPr>
            <a:r>
              <a:rPr lang="en-US" sz="2400" dirty="0">
                <a:solidFill>
                  <a:srgbClr val="000000"/>
                </a:solidFill>
                <a:ea typeface="Times New Roman" panose="02020603050405020304" pitchFamily="18" charset="0"/>
              </a:rPr>
              <a:t>Random Forest</a:t>
            </a:r>
            <a:r>
              <a:rPr lang="en-US" sz="2400" dirty="0">
                <a:solidFill>
                  <a:srgbClr val="000000"/>
                </a:solidFill>
                <a:effectLst/>
                <a:ea typeface="Times New Roman" panose="02020603050405020304" pitchFamily="18" charset="0"/>
              </a:rPr>
              <a:t> is a ensemble learning model that operates by constructing a multitude of decision trees at training time</a:t>
            </a:r>
          </a:p>
          <a:p>
            <a:endParaRPr lang="en-US" sz="2400" dirty="0"/>
          </a:p>
          <a:p>
            <a:endParaRPr lang="en-US" sz="2400" dirty="0"/>
          </a:p>
          <a:p>
            <a:endParaRPr lang="en-US" sz="2000" dirty="0"/>
          </a:p>
        </p:txBody>
      </p:sp>
      <p:sp>
        <p:nvSpPr>
          <p:cNvPr id="4" name="Date Placeholder 3">
            <a:extLst>
              <a:ext uri="{FF2B5EF4-FFF2-40B4-BE49-F238E27FC236}">
                <a16:creationId xmlns:a16="http://schemas.microsoft.com/office/drawing/2014/main" id="{D7EBA610-CC19-4227-B31D-DD5952D5132F}"/>
              </a:ext>
            </a:extLst>
          </p:cNvPr>
          <p:cNvSpPr>
            <a:spLocks noGrp="1"/>
          </p:cNvSpPr>
          <p:nvPr>
            <p:ph type="dt" sz="half" idx="10"/>
          </p:nvPr>
        </p:nvSpPr>
        <p:spPr/>
        <p:txBody>
          <a:bodyPr/>
          <a:lstStyle/>
          <a:p>
            <a:fld id="{619500E5-8FBA-4669-8911-1EAA60C3401A}" type="datetime3">
              <a:rPr lang="en-US" smtClean="0"/>
              <a:t>4 October 2024</a:t>
            </a:fld>
            <a:endParaRPr lang="en-US"/>
          </a:p>
        </p:txBody>
      </p:sp>
      <p:sp>
        <p:nvSpPr>
          <p:cNvPr id="6" name="Slide Number Placeholder 5">
            <a:extLst>
              <a:ext uri="{FF2B5EF4-FFF2-40B4-BE49-F238E27FC236}">
                <a16:creationId xmlns:a16="http://schemas.microsoft.com/office/drawing/2014/main" id="{6FB8A523-CF78-4D69-9924-645284BC54A5}"/>
              </a:ext>
            </a:extLst>
          </p:cNvPr>
          <p:cNvSpPr>
            <a:spLocks noGrp="1"/>
          </p:cNvSpPr>
          <p:nvPr>
            <p:ph type="sldNum" sz="quarter" idx="12"/>
          </p:nvPr>
        </p:nvSpPr>
        <p:spPr/>
        <p:txBody>
          <a:bodyPr/>
          <a:lstStyle/>
          <a:p>
            <a:fld id="{7B28076C-CE04-4A00-BFAA-A90EA8355859}" type="slidenum">
              <a:rPr lang="en-US" smtClean="0"/>
              <a:pPr/>
              <a:t>4</a:t>
            </a:fld>
            <a:endParaRPr lang="en-US"/>
          </a:p>
        </p:txBody>
      </p:sp>
      <p:sp>
        <p:nvSpPr>
          <p:cNvPr id="7" name="Footer Placeholder 6">
            <a:extLst>
              <a:ext uri="{FF2B5EF4-FFF2-40B4-BE49-F238E27FC236}">
                <a16:creationId xmlns:a16="http://schemas.microsoft.com/office/drawing/2014/main" id="{1A1AAA5E-D5FD-7E5B-80B1-E5B7C77D78D1}"/>
              </a:ext>
            </a:extLst>
          </p:cNvPr>
          <p:cNvSpPr>
            <a:spLocks noGrp="1"/>
          </p:cNvSpPr>
          <p:nvPr>
            <p:ph type="ftr" sz="quarter" idx="4294967295"/>
          </p:nvPr>
        </p:nvSpPr>
        <p:spPr>
          <a:xfrm>
            <a:off x="2857500" y="6492875"/>
            <a:ext cx="3429000" cy="365125"/>
          </a:xfrm>
        </p:spPr>
        <p:txBody>
          <a:bodyPr/>
          <a:lstStyle/>
          <a:p>
            <a:r>
              <a:rPr lang="en-US" dirty="0"/>
              <a:t>Department of Computer Science and Engineering</a:t>
            </a:r>
            <a:endParaRPr lang="en-US" b="1" dirty="0"/>
          </a:p>
        </p:txBody>
      </p:sp>
    </p:spTree>
    <p:extLst>
      <p:ext uri="{BB962C8B-B14F-4D97-AF65-F5344CB8AC3E}">
        <p14:creationId xmlns:p14="http://schemas.microsoft.com/office/powerpoint/2010/main" val="3696121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0A423FFF-DA4F-427A-BFC2-8006A10DFA1E}" type="datetime3">
              <a:rPr lang="en-US" smtClean="0"/>
              <a:t>4 October 2024</a:t>
            </a:fld>
            <a:endParaRPr lang="en-US"/>
          </a:p>
        </p:txBody>
      </p:sp>
      <p:sp>
        <p:nvSpPr>
          <p:cNvPr id="9" name="Slide Number Placeholder 8"/>
          <p:cNvSpPr>
            <a:spLocks noGrp="1"/>
          </p:cNvSpPr>
          <p:nvPr>
            <p:ph type="sldNum" sz="quarter" idx="12"/>
          </p:nvPr>
        </p:nvSpPr>
        <p:spPr/>
        <p:txBody>
          <a:bodyPr/>
          <a:lstStyle/>
          <a:p>
            <a:fld id="{7B28076C-CE04-4A00-BFAA-A90EA8355859}" type="slidenum">
              <a:rPr lang="en-US" smtClean="0"/>
              <a:pPr/>
              <a:t>5</a:t>
            </a:fld>
            <a:endParaRPr lang="en-US"/>
          </a:p>
        </p:txBody>
      </p:sp>
      <p:sp>
        <p:nvSpPr>
          <p:cNvPr id="10" name="Title 1"/>
          <p:cNvSpPr>
            <a:spLocks noGrp="1"/>
          </p:cNvSpPr>
          <p:nvPr>
            <p:ph type="title"/>
          </p:nvPr>
        </p:nvSpPr>
        <p:spPr>
          <a:xfrm>
            <a:off x="495300" y="381000"/>
            <a:ext cx="8229600" cy="655638"/>
          </a:xfrm>
        </p:spPr>
        <p:txBody>
          <a:bodyPr>
            <a:normAutofit/>
          </a:bodyPr>
          <a:lstStyle/>
          <a:p>
            <a:pPr algn="l"/>
            <a:r>
              <a:rPr lang="en-US" sz="3600" b="1" dirty="0">
                <a:solidFill>
                  <a:srgbClr val="C00000"/>
                </a:solidFill>
                <a:cs typeface="Arial" pitchFamily="34" charset="0"/>
              </a:rPr>
              <a:t>                           OBJECTIVES</a:t>
            </a:r>
          </a:p>
        </p:txBody>
      </p:sp>
      <p:sp>
        <p:nvSpPr>
          <p:cNvPr id="11" name="Content Placeholder 2"/>
          <p:cNvSpPr>
            <a:spLocks noGrp="1"/>
          </p:cNvSpPr>
          <p:nvPr>
            <p:ph idx="1"/>
          </p:nvPr>
        </p:nvSpPr>
        <p:spPr>
          <a:xfrm>
            <a:off x="533400" y="1447800"/>
            <a:ext cx="8153400" cy="5715000"/>
          </a:xfrm>
        </p:spPr>
        <p:txBody>
          <a:bodyPr>
            <a:normAutofit fontScale="40000" lnSpcReduction="20000"/>
          </a:bodyPr>
          <a:lstStyle/>
          <a:p>
            <a:pPr marL="514350" indent="-514350">
              <a:lnSpc>
                <a:spcPct val="170000"/>
              </a:lnSpc>
              <a:buFont typeface="+mj-lt"/>
              <a:buAutoNum type="arabicPeriod"/>
            </a:pPr>
            <a:r>
              <a:rPr lang="en-US" sz="6000" dirty="0">
                <a:solidFill>
                  <a:srgbClr val="292929"/>
                </a:solidFill>
                <a:cs typeface="Arial" panose="020B0604020202020204" pitchFamily="34" charset="0"/>
              </a:rPr>
              <a:t>To develop a system which can perform early prediction of diabetes with a good accuracy .</a:t>
            </a:r>
          </a:p>
          <a:p>
            <a:pPr marL="514350" indent="-514350">
              <a:lnSpc>
                <a:spcPct val="170000"/>
              </a:lnSpc>
              <a:buFont typeface="+mj-lt"/>
              <a:buAutoNum type="arabicPeriod"/>
            </a:pPr>
            <a:r>
              <a:rPr lang="en-US" sz="6000" dirty="0">
                <a:solidFill>
                  <a:srgbClr val="292929"/>
                </a:solidFill>
                <a:cs typeface="Arial" panose="020B0604020202020204" pitchFamily="34" charset="0"/>
              </a:rPr>
              <a:t>To accomplish this we gathered a diagnostic dataset from UCI consists of 17 attributes of 520 instances.</a:t>
            </a:r>
          </a:p>
          <a:p>
            <a:pPr marL="514350" indent="-514350">
              <a:lnSpc>
                <a:spcPct val="170000"/>
              </a:lnSpc>
              <a:buFont typeface="+mj-lt"/>
              <a:buAutoNum type="arabicPeriod"/>
            </a:pPr>
            <a:r>
              <a:rPr lang="en-US" sz="6000" dirty="0">
                <a:solidFill>
                  <a:srgbClr val="292929"/>
                </a:solidFill>
                <a:cs typeface="Arial" panose="020B0604020202020204" pitchFamily="34" charset="0"/>
              </a:rPr>
              <a:t>After examine the dataset we decided to implement Random Forest Classifier algorithm.</a:t>
            </a:r>
          </a:p>
          <a:p>
            <a:pPr marL="514350" indent="-514350">
              <a:lnSpc>
                <a:spcPct val="170000"/>
              </a:lnSpc>
              <a:buFont typeface="+mj-lt"/>
              <a:buAutoNum type="arabicPeriod"/>
            </a:pPr>
            <a:r>
              <a:rPr lang="en-US" sz="6000" dirty="0">
                <a:solidFill>
                  <a:srgbClr val="292929"/>
                </a:solidFill>
                <a:cs typeface="Arial" panose="020B0604020202020204" pitchFamily="34" charset="0"/>
              </a:rPr>
              <a:t>We used  python language for machine learning because of its features which makes it easier to build models for ML.</a:t>
            </a:r>
          </a:p>
          <a:p>
            <a:pPr>
              <a:lnSpc>
                <a:spcPct val="170000"/>
              </a:lnSpc>
            </a:pPr>
            <a:endParaRPr lang="en-US" sz="2800" dirty="0"/>
          </a:p>
          <a:p>
            <a:endParaRPr lang="en-US" sz="2800" dirty="0">
              <a:latin typeface="Arial" pitchFamily="34" charset="0"/>
              <a:cs typeface="Arial" pitchFamily="34" charset="0"/>
            </a:endParaRPr>
          </a:p>
          <a:p>
            <a:pPr marL="0" indent="0" algn="just">
              <a:buNone/>
            </a:pPr>
            <a:endParaRPr lang="en-US" sz="2800" dirty="0"/>
          </a:p>
        </p:txBody>
      </p:sp>
      <p:sp>
        <p:nvSpPr>
          <p:cNvPr id="3" name="Footer Placeholder 2">
            <a:extLst>
              <a:ext uri="{FF2B5EF4-FFF2-40B4-BE49-F238E27FC236}">
                <a16:creationId xmlns:a16="http://schemas.microsoft.com/office/drawing/2014/main" id="{AB8E0C94-068A-A184-2CC7-47F5BC2E8A7A}"/>
              </a:ext>
            </a:extLst>
          </p:cNvPr>
          <p:cNvSpPr>
            <a:spLocks noGrp="1"/>
          </p:cNvSpPr>
          <p:nvPr>
            <p:ph type="ftr" sz="quarter" idx="4294967295"/>
          </p:nvPr>
        </p:nvSpPr>
        <p:spPr>
          <a:xfrm>
            <a:off x="2857500" y="6477000"/>
            <a:ext cx="3429000" cy="365125"/>
          </a:xfrm>
        </p:spPr>
        <p:txBody>
          <a:bodyPr/>
          <a:lstStyle/>
          <a:p>
            <a:r>
              <a:rPr lang="en-US" dirty="0"/>
              <a:t>Department of Computer Science and Engineering</a:t>
            </a:r>
            <a:endParaRPr lang="en-US" b="1" dirty="0"/>
          </a:p>
        </p:txBody>
      </p:sp>
    </p:spTree>
    <p:extLst>
      <p:ext uri="{BB962C8B-B14F-4D97-AF65-F5344CB8AC3E}">
        <p14:creationId xmlns:p14="http://schemas.microsoft.com/office/powerpoint/2010/main" val="3185972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82009" y="285398"/>
            <a:ext cx="8229600" cy="809711"/>
          </a:xfrm>
        </p:spPr>
        <p:txBody>
          <a:bodyPr>
            <a:normAutofit/>
          </a:bodyPr>
          <a:lstStyle/>
          <a:p>
            <a:pPr algn="l"/>
            <a:r>
              <a:rPr lang="en-US" sz="3600" b="1" dirty="0">
                <a:solidFill>
                  <a:srgbClr val="C00000"/>
                </a:solidFill>
                <a:cs typeface="Arial" pitchFamily="34" charset="0"/>
              </a:rPr>
              <a:t>                  SYSTEM ARCHITECTURE</a:t>
            </a:r>
            <a:endParaRPr lang="en-US" sz="3600" b="1" dirty="0">
              <a:solidFill>
                <a:srgbClr val="C00000"/>
              </a:solidFill>
            </a:endParaRPr>
          </a:p>
        </p:txBody>
      </p:sp>
      <p:sp>
        <p:nvSpPr>
          <p:cNvPr id="4" name="Date Placeholder 3"/>
          <p:cNvSpPr>
            <a:spLocks noGrp="1"/>
          </p:cNvSpPr>
          <p:nvPr>
            <p:ph type="dt" sz="half" idx="10"/>
          </p:nvPr>
        </p:nvSpPr>
        <p:spPr/>
        <p:txBody>
          <a:bodyPr/>
          <a:lstStyle/>
          <a:p>
            <a:fld id="{82063844-EC52-4193-8255-2E1481849864}" type="datetime3">
              <a:rPr lang="en-US" smtClean="0"/>
              <a:t>4 October 2024</a:t>
            </a:fld>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pPr/>
              <a:t>6</a:t>
            </a:fld>
            <a:endParaRPr lang="en-US"/>
          </a:p>
        </p:txBody>
      </p:sp>
      <p:pic>
        <p:nvPicPr>
          <p:cNvPr id="10" name="Content Placeholder 9">
            <a:extLst>
              <a:ext uri="{FF2B5EF4-FFF2-40B4-BE49-F238E27FC236}">
                <a16:creationId xmlns:a16="http://schemas.microsoft.com/office/drawing/2014/main" id="{ED294ADC-2A46-4501-88FF-41E51214F4E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307115" y="1905803"/>
            <a:ext cx="4423930" cy="2895636"/>
          </a:xfrm>
        </p:spPr>
      </p:pic>
      <p:pic>
        <p:nvPicPr>
          <p:cNvPr id="12" name="Picture 11">
            <a:extLst>
              <a:ext uri="{FF2B5EF4-FFF2-40B4-BE49-F238E27FC236}">
                <a16:creationId xmlns:a16="http://schemas.microsoft.com/office/drawing/2014/main" id="{903A6D67-FCB0-493B-9BB0-179BFB6B0E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540" y="1552489"/>
            <a:ext cx="3886200" cy="4267200"/>
          </a:xfrm>
          <a:prstGeom prst="rect">
            <a:avLst/>
          </a:prstGeom>
        </p:spPr>
      </p:pic>
      <p:sp>
        <p:nvSpPr>
          <p:cNvPr id="3" name="Footer Placeholder 2">
            <a:extLst>
              <a:ext uri="{FF2B5EF4-FFF2-40B4-BE49-F238E27FC236}">
                <a16:creationId xmlns:a16="http://schemas.microsoft.com/office/drawing/2014/main" id="{B37C08D3-7A1F-0943-F691-6795272BBF11}"/>
              </a:ext>
            </a:extLst>
          </p:cNvPr>
          <p:cNvSpPr>
            <a:spLocks noGrp="1"/>
          </p:cNvSpPr>
          <p:nvPr>
            <p:ph type="ftr" sz="quarter" idx="4294967295"/>
          </p:nvPr>
        </p:nvSpPr>
        <p:spPr>
          <a:xfrm>
            <a:off x="2882309" y="6390039"/>
            <a:ext cx="3429000" cy="365125"/>
          </a:xfrm>
        </p:spPr>
        <p:txBody>
          <a:bodyPr/>
          <a:lstStyle/>
          <a:p>
            <a:r>
              <a:rPr lang="en-US"/>
              <a:t>Department of Computer Science and Engineering</a:t>
            </a:r>
            <a:endParaRPr lang="en-US" b="1" dirty="0"/>
          </a:p>
        </p:txBody>
      </p:sp>
    </p:spTree>
    <p:extLst>
      <p:ext uri="{BB962C8B-B14F-4D97-AF65-F5344CB8AC3E}">
        <p14:creationId xmlns:p14="http://schemas.microsoft.com/office/powerpoint/2010/main" val="3978552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2D9AA73-1308-443C-A46F-0039F1036F17}" type="datetime3">
              <a:rPr lang="en-US" smtClean="0"/>
              <a:t>4 October 2024</a:t>
            </a:fld>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pPr/>
              <a:t>7</a:t>
            </a:fld>
            <a:endParaRPr lang="en-US" dirty="0"/>
          </a:p>
        </p:txBody>
      </p:sp>
      <p:sp>
        <p:nvSpPr>
          <p:cNvPr id="7" name="Title 1"/>
          <p:cNvSpPr>
            <a:spLocks noGrp="1"/>
          </p:cNvSpPr>
          <p:nvPr>
            <p:ph type="title"/>
          </p:nvPr>
        </p:nvSpPr>
        <p:spPr>
          <a:xfrm>
            <a:off x="304800" y="304800"/>
            <a:ext cx="8229600" cy="655638"/>
          </a:xfrm>
        </p:spPr>
        <p:txBody>
          <a:bodyPr>
            <a:normAutofit fontScale="90000"/>
          </a:bodyPr>
          <a:lstStyle/>
          <a:p>
            <a:pPr algn="l"/>
            <a:r>
              <a:rPr lang="en-US" sz="3600" b="1" dirty="0">
                <a:solidFill>
                  <a:srgbClr val="C00000"/>
                </a:solidFill>
                <a:cs typeface="Arial" pitchFamily="34" charset="0"/>
              </a:rPr>
              <a:t>HARDWARE AND SOFTWARE REQUIREMENTS</a:t>
            </a:r>
          </a:p>
        </p:txBody>
      </p:sp>
      <p:sp>
        <p:nvSpPr>
          <p:cNvPr id="8" name="Content Placeholder 2"/>
          <p:cNvSpPr>
            <a:spLocks noGrp="1"/>
          </p:cNvSpPr>
          <p:nvPr>
            <p:ph idx="1"/>
          </p:nvPr>
        </p:nvSpPr>
        <p:spPr>
          <a:xfrm>
            <a:off x="609600" y="1447800"/>
            <a:ext cx="8305800" cy="5638800"/>
          </a:xfrm>
        </p:spPr>
        <p:txBody>
          <a:bodyPr>
            <a:normAutofit/>
          </a:bodyPr>
          <a:lstStyle/>
          <a:p>
            <a:pPr>
              <a:lnSpc>
                <a:spcPct val="150000"/>
              </a:lnSpc>
            </a:pPr>
            <a:r>
              <a:rPr lang="en-US" sz="2400" dirty="0">
                <a:cs typeface="Arial" pitchFamily="34" charset="0"/>
              </a:rPr>
              <a:t>Software Requirements</a:t>
            </a:r>
          </a:p>
          <a:p>
            <a:pPr lvl="1">
              <a:lnSpc>
                <a:spcPct val="150000"/>
              </a:lnSpc>
            </a:pPr>
            <a:r>
              <a:rPr lang="en-US" sz="2400" dirty="0">
                <a:cs typeface="Arial" pitchFamily="34" charset="0"/>
              </a:rPr>
              <a:t>Jupyter Notebook  - Project environment</a:t>
            </a:r>
          </a:p>
          <a:p>
            <a:pPr lvl="1">
              <a:lnSpc>
                <a:spcPct val="150000"/>
              </a:lnSpc>
            </a:pPr>
            <a:r>
              <a:rPr lang="en-US" sz="2400" dirty="0">
                <a:cs typeface="Arial" pitchFamily="34" charset="0"/>
              </a:rPr>
              <a:t>Pandas – Convert  dataset into data-frame</a:t>
            </a:r>
          </a:p>
          <a:p>
            <a:pPr lvl="1">
              <a:lnSpc>
                <a:spcPct val="150000"/>
              </a:lnSpc>
            </a:pPr>
            <a:r>
              <a:rPr lang="en-US" sz="2400" dirty="0">
                <a:cs typeface="Arial" pitchFamily="34" charset="0"/>
              </a:rPr>
              <a:t>Matplot , Seaborn – Used to visualize the dataset</a:t>
            </a:r>
          </a:p>
          <a:p>
            <a:pPr lvl="1">
              <a:lnSpc>
                <a:spcPct val="150000"/>
              </a:lnSpc>
            </a:pPr>
            <a:r>
              <a:rPr lang="en-US" sz="2400" dirty="0">
                <a:cs typeface="Arial" pitchFamily="34" charset="0"/>
              </a:rPr>
              <a:t>SkLearn module – To import all types ML algorithms</a:t>
            </a:r>
          </a:p>
          <a:p>
            <a:pPr>
              <a:lnSpc>
                <a:spcPct val="150000"/>
              </a:lnSpc>
            </a:pPr>
            <a:r>
              <a:rPr lang="en-US" sz="2400" dirty="0">
                <a:cs typeface="Arial" pitchFamily="34" charset="0"/>
              </a:rPr>
              <a:t>Hardware Requirements</a:t>
            </a:r>
          </a:p>
          <a:p>
            <a:pPr lvl="1">
              <a:lnSpc>
                <a:spcPct val="150000"/>
              </a:lnSpc>
            </a:pPr>
            <a:r>
              <a:rPr lang="en-US" sz="2400" dirty="0">
                <a:cs typeface="Arial" pitchFamily="34" charset="0"/>
              </a:rPr>
              <a:t>GPU</a:t>
            </a:r>
          </a:p>
          <a:p>
            <a:pPr lvl="1">
              <a:lnSpc>
                <a:spcPct val="150000"/>
              </a:lnSpc>
            </a:pPr>
            <a:r>
              <a:rPr lang="en-US" sz="2400" dirty="0">
                <a:cs typeface="Arial" pitchFamily="34" charset="0"/>
              </a:rPr>
              <a:t>Any Operating System</a:t>
            </a:r>
          </a:p>
          <a:p>
            <a:pPr lvl="2">
              <a:lnSpc>
                <a:spcPct val="170000"/>
              </a:lnSpc>
            </a:pPr>
            <a:endParaRPr lang="en-US" sz="2800" dirty="0">
              <a:solidFill>
                <a:srgbClr val="292929"/>
              </a:solidFill>
              <a:cs typeface="Arial" panose="020B0604020202020204" pitchFamily="34" charset="0"/>
            </a:endParaRPr>
          </a:p>
          <a:p>
            <a:pPr lvl="2">
              <a:lnSpc>
                <a:spcPct val="170000"/>
              </a:lnSpc>
            </a:pPr>
            <a:endParaRPr lang="en-US" sz="2800" dirty="0">
              <a:solidFill>
                <a:srgbClr val="292929"/>
              </a:solidFill>
              <a:cs typeface="Arial" panose="020B0604020202020204" pitchFamily="34" charset="0"/>
            </a:endParaRPr>
          </a:p>
          <a:p>
            <a:pPr lvl="1">
              <a:lnSpc>
                <a:spcPct val="150000"/>
              </a:lnSpc>
            </a:pPr>
            <a:endParaRPr lang="en-US" sz="2400" dirty="0">
              <a:latin typeface="Arial" pitchFamily="34" charset="0"/>
              <a:cs typeface="Arial" pitchFamily="34" charset="0"/>
            </a:endParaRPr>
          </a:p>
          <a:p>
            <a:pPr>
              <a:buNone/>
            </a:pPr>
            <a:endParaRPr lang="en-US" dirty="0"/>
          </a:p>
        </p:txBody>
      </p:sp>
      <p:sp>
        <p:nvSpPr>
          <p:cNvPr id="3" name="Footer Placeholder 2">
            <a:extLst>
              <a:ext uri="{FF2B5EF4-FFF2-40B4-BE49-F238E27FC236}">
                <a16:creationId xmlns:a16="http://schemas.microsoft.com/office/drawing/2014/main" id="{12ABB034-01EE-2012-106F-5FC5D194826D}"/>
              </a:ext>
            </a:extLst>
          </p:cNvPr>
          <p:cNvSpPr>
            <a:spLocks noGrp="1"/>
          </p:cNvSpPr>
          <p:nvPr>
            <p:ph type="ftr" sz="quarter" idx="4294967295"/>
          </p:nvPr>
        </p:nvSpPr>
        <p:spPr>
          <a:xfrm>
            <a:off x="2895600" y="6492875"/>
            <a:ext cx="3429000" cy="365125"/>
          </a:xfrm>
        </p:spPr>
        <p:txBody>
          <a:bodyPr/>
          <a:lstStyle/>
          <a:p>
            <a:r>
              <a:rPr lang="en-US" dirty="0"/>
              <a:t>Department of Computer Science and Engineering</a:t>
            </a:r>
            <a:endParaRPr lang="en-US" b="1" dirty="0"/>
          </a:p>
        </p:txBody>
      </p:sp>
    </p:spTree>
    <p:extLst>
      <p:ext uri="{BB962C8B-B14F-4D97-AF65-F5344CB8AC3E}">
        <p14:creationId xmlns:p14="http://schemas.microsoft.com/office/powerpoint/2010/main" val="252648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1DF3B-CCB1-4769-B759-BAB65C5F7695}"/>
              </a:ext>
            </a:extLst>
          </p:cNvPr>
          <p:cNvSpPr>
            <a:spLocks noGrp="1"/>
          </p:cNvSpPr>
          <p:nvPr>
            <p:ph type="title"/>
          </p:nvPr>
        </p:nvSpPr>
        <p:spPr>
          <a:xfrm>
            <a:off x="609600" y="228600"/>
            <a:ext cx="8229600" cy="854075"/>
          </a:xfrm>
        </p:spPr>
        <p:txBody>
          <a:bodyPr>
            <a:normAutofit/>
          </a:bodyPr>
          <a:lstStyle/>
          <a:p>
            <a:r>
              <a:rPr lang="en-US" sz="3600" b="1" dirty="0">
                <a:solidFill>
                  <a:srgbClr val="C00000"/>
                </a:solidFill>
                <a:cs typeface="Arial" pitchFamily="34" charset="0"/>
              </a:rPr>
              <a:t>  DATASET DESCRIPTION</a:t>
            </a:r>
            <a:endParaRPr lang="en-IN" sz="3600" dirty="0"/>
          </a:p>
        </p:txBody>
      </p:sp>
      <p:sp>
        <p:nvSpPr>
          <p:cNvPr id="3" name="Content Placeholder 2">
            <a:extLst>
              <a:ext uri="{FF2B5EF4-FFF2-40B4-BE49-F238E27FC236}">
                <a16:creationId xmlns:a16="http://schemas.microsoft.com/office/drawing/2014/main" id="{148C9B57-DE89-4E88-B948-E8C1FB968481}"/>
              </a:ext>
            </a:extLst>
          </p:cNvPr>
          <p:cNvSpPr>
            <a:spLocks noGrp="1"/>
          </p:cNvSpPr>
          <p:nvPr>
            <p:ph idx="1"/>
          </p:nvPr>
        </p:nvSpPr>
        <p:spPr>
          <a:xfrm>
            <a:off x="381000" y="1252868"/>
            <a:ext cx="8686800" cy="6629400"/>
          </a:xfrm>
        </p:spPr>
        <p:txBody>
          <a:bodyPr>
            <a:normAutofit fontScale="55000" lnSpcReduction="20000"/>
          </a:bodyPr>
          <a:lstStyle/>
          <a:p>
            <a:pPr>
              <a:lnSpc>
                <a:spcPct val="120000"/>
              </a:lnSpc>
            </a:pPr>
            <a:r>
              <a:rPr lang="en-US" sz="4200" dirty="0">
                <a:cs typeface="Arial" pitchFamily="34" charset="0"/>
              </a:rPr>
              <a:t>To implement this project we need to follow the below steps</a:t>
            </a:r>
          </a:p>
          <a:p>
            <a:pPr marL="361950" lvl="1" indent="-276225">
              <a:lnSpc>
                <a:spcPct val="120000"/>
              </a:lnSpc>
              <a:tabLst>
                <a:tab pos="361950" algn="l"/>
              </a:tabLst>
            </a:pPr>
            <a:r>
              <a:rPr lang="en-US" sz="4200" b="1" dirty="0" err="1">
                <a:cs typeface="Arial" pitchFamily="34" charset="0"/>
              </a:rPr>
              <a:t>GetData</a:t>
            </a:r>
            <a:r>
              <a:rPr lang="en-US" sz="4200" b="1" dirty="0">
                <a:cs typeface="Arial" pitchFamily="34" charset="0"/>
              </a:rPr>
              <a:t> :</a:t>
            </a:r>
          </a:p>
          <a:p>
            <a:pPr marL="1169988" lvl="3" indent="-361950">
              <a:lnSpc>
                <a:spcPct val="120000"/>
              </a:lnSpc>
              <a:buFont typeface="Wingdings" panose="05000000000000000000" pitchFamily="2" charset="2"/>
              <a:buChar char="§"/>
            </a:pPr>
            <a:r>
              <a:rPr lang="en-US" sz="4200" dirty="0">
                <a:cs typeface="Arial" pitchFamily="34" charset="0"/>
              </a:rPr>
              <a:t> </a:t>
            </a:r>
            <a:r>
              <a:rPr lang="en-US" sz="4200" dirty="0">
                <a:solidFill>
                  <a:srgbClr val="292929"/>
                </a:solidFill>
                <a:cs typeface="Arial" panose="020B0604020202020204" pitchFamily="34" charset="0"/>
              </a:rPr>
              <a:t>Gather the diagnostic dataset of 520 patients.</a:t>
            </a:r>
          </a:p>
          <a:p>
            <a:pPr marL="446088" lvl="1" indent="-360363">
              <a:lnSpc>
                <a:spcPct val="120000"/>
              </a:lnSpc>
            </a:pPr>
            <a:r>
              <a:rPr lang="en-US" sz="4200" b="1" dirty="0">
                <a:solidFill>
                  <a:srgbClr val="292929"/>
                </a:solidFill>
                <a:cs typeface="Arial" panose="020B0604020202020204" pitchFamily="34" charset="0"/>
              </a:rPr>
              <a:t>DataCleaning :</a:t>
            </a:r>
          </a:p>
          <a:p>
            <a:pPr marL="1254125" lvl="3" indent="-446088">
              <a:lnSpc>
                <a:spcPct val="120000"/>
              </a:lnSpc>
              <a:buFont typeface="Wingdings" panose="05000000000000000000" pitchFamily="2" charset="2"/>
              <a:buChar char="§"/>
              <a:tabLst>
                <a:tab pos="1254125" algn="l"/>
              </a:tabLst>
            </a:pPr>
            <a:r>
              <a:rPr lang="en-US" sz="4200" dirty="0">
                <a:solidFill>
                  <a:srgbClr val="292929"/>
                </a:solidFill>
                <a:cs typeface="Arial" panose="020B0604020202020204" pitchFamily="34" charset="0"/>
              </a:rPr>
              <a:t>Check for Null values, replace with mean value of column.</a:t>
            </a:r>
          </a:p>
          <a:p>
            <a:pPr marL="446088" lvl="1" indent="-360363">
              <a:lnSpc>
                <a:spcPct val="120000"/>
              </a:lnSpc>
            </a:pPr>
            <a:r>
              <a:rPr lang="en-US" sz="4200" b="1" dirty="0">
                <a:solidFill>
                  <a:srgbClr val="292929"/>
                </a:solidFill>
                <a:cs typeface="Arial" panose="020B0604020202020204" pitchFamily="34" charset="0"/>
              </a:rPr>
              <a:t>DataPreprocessing :</a:t>
            </a:r>
          </a:p>
          <a:p>
            <a:pPr marL="1254125" lvl="3" indent="-446088">
              <a:lnSpc>
                <a:spcPct val="120000"/>
              </a:lnSpc>
              <a:buFont typeface="Wingdings" panose="05000000000000000000" pitchFamily="2" charset="2"/>
              <a:buChar char="§"/>
            </a:pPr>
            <a:r>
              <a:rPr lang="en-US" sz="4200" dirty="0">
                <a:solidFill>
                  <a:srgbClr val="292929"/>
                </a:solidFill>
                <a:cs typeface="Arial" panose="020B0604020202020204" pitchFamily="34" charset="0"/>
              </a:rPr>
              <a:t>Divide the data into features(x) and label(y).</a:t>
            </a:r>
          </a:p>
          <a:p>
            <a:pPr marL="446088" lvl="1" indent="-360363">
              <a:lnSpc>
                <a:spcPct val="120000"/>
              </a:lnSpc>
            </a:pPr>
            <a:r>
              <a:rPr lang="en-US" sz="4200" b="1" dirty="0">
                <a:solidFill>
                  <a:srgbClr val="292929"/>
                </a:solidFill>
                <a:cs typeface="Arial" panose="020B0604020202020204" pitchFamily="34" charset="0"/>
              </a:rPr>
              <a:t>Train and Test:</a:t>
            </a:r>
          </a:p>
          <a:p>
            <a:pPr marL="1254125" lvl="3" indent="-446088">
              <a:lnSpc>
                <a:spcPct val="120000"/>
              </a:lnSpc>
              <a:buFont typeface="Wingdings" panose="05000000000000000000" pitchFamily="2" charset="2"/>
              <a:buChar char="§"/>
            </a:pPr>
            <a:r>
              <a:rPr lang="en-US" sz="4200" dirty="0">
                <a:solidFill>
                  <a:srgbClr val="292929"/>
                </a:solidFill>
                <a:cs typeface="Arial" panose="020B0604020202020204" pitchFamily="34" charset="0"/>
              </a:rPr>
              <a:t>Split the dataset into train(80%) and test(20%).</a:t>
            </a:r>
          </a:p>
          <a:p>
            <a:pPr marL="446088" lvl="1" indent="-360363">
              <a:lnSpc>
                <a:spcPct val="120000"/>
              </a:lnSpc>
              <a:tabLst>
                <a:tab pos="808038" algn="l"/>
              </a:tabLst>
            </a:pPr>
            <a:r>
              <a:rPr lang="en-US" sz="4200" b="1" dirty="0">
                <a:solidFill>
                  <a:srgbClr val="292929"/>
                </a:solidFill>
                <a:cs typeface="Arial" panose="020B0604020202020204" pitchFamily="34" charset="0"/>
              </a:rPr>
              <a:t>Model Selection :</a:t>
            </a:r>
          </a:p>
          <a:p>
            <a:pPr marL="1073150" lvl="3" indent="-360363">
              <a:lnSpc>
                <a:spcPct val="120000"/>
              </a:lnSpc>
              <a:buFont typeface="Wingdings" panose="05000000000000000000" pitchFamily="2" charset="2"/>
              <a:buChar char="§"/>
            </a:pPr>
            <a:r>
              <a:rPr lang="en-US" sz="4200" b="1" dirty="0">
                <a:solidFill>
                  <a:srgbClr val="292929"/>
                </a:solidFill>
                <a:cs typeface="Arial" panose="020B0604020202020204" pitchFamily="34" charset="0"/>
              </a:rPr>
              <a:t>  </a:t>
            </a:r>
            <a:r>
              <a:rPr lang="en-US" sz="4200" dirty="0">
                <a:solidFill>
                  <a:srgbClr val="292929"/>
                </a:solidFill>
                <a:cs typeface="Arial" panose="020B0604020202020204" pitchFamily="34" charset="0"/>
              </a:rPr>
              <a:t>Implement Random Forest Classifier for given data set.</a:t>
            </a:r>
          </a:p>
          <a:p>
            <a:pPr marL="446088" lvl="1" indent="-360363">
              <a:lnSpc>
                <a:spcPct val="120000"/>
              </a:lnSpc>
            </a:pPr>
            <a:r>
              <a:rPr lang="en-US" sz="4200" b="1" dirty="0">
                <a:solidFill>
                  <a:srgbClr val="292929"/>
                </a:solidFill>
                <a:cs typeface="Arial" panose="020B0604020202020204" pitchFamily="34" charset="0"/>
              </a:rPr>
              <a:t>Model Evaluation :</a:t>
            </a:r>
          </a:p>
          <a:p>
            <a:pPr marL="1254125" lvl="3" indent="-541338">
              <a:lnSpc>
                <a:spcPct val="120000"/>
              </a:lnSpc>
              <a:buFont typeface="Wingdings" panose="05000000000000000000" pitchFamily="2" charset="2"/>
              <a:buChar char="§"/>
            </a:pPr>
            <a:r>
              <a:rPr lang="en-US" sz="4200" dirty="0">
                <a:solidFill>
                  <a:srgbClr val="292929"/>
                </a:solidFill>
                <a:cs typeface="Arial" panose="020B0604020202020204" pitchFamily="34" charset="0"/>
              </a:rPr>
              <a:t>Check Classification Metrics. </a:t>
            </a:r>
          </a:p>
          <a:p>
            <a:pPr lvl="1">
              <a:lnSpc>
                <a:spcPct val="170000"/>
              </a:lnSpc>
            </a:pPr>
            <a:endParaRPr lang="en-US" dirty="0">
              <a:solidFill>
                <a:srgbClr val="292929"/>
              </a:solidFill>
              <a:cs typeface="Arial" panose="020B0604020202020204" pitchFamily="34" charset="0"/>
            </a:endParaRPr>
          </a:p>
          <a:p>
            <a:pPr lvl="1">
              <a:lnSpc>
                <a:spcPct val="170000"/>
              </a:lnSpc>
            </a:pPr>
            <a:endParaRPr lang="en-US" sz="2800" dirty="0">
              <a:solidFill>
                <a:srgbClr val="292929"/>
              </a:solidFill>
              <a:cs typeface="Arial" panose="020B0604020202020204" pitchFamily="34" charset="0"/>
            </a:endParaRPr>
          </a:p>
          <a:p>
            <a:pPr lvl="2">
              <a:lnSpc>
                <a:spcPct val="170000"/>
              </a:lnSpc>
            </a:pPr>
            <a:endParaRPr lang="en-US" sz="2800" dirty="0">
              <a:solidFill>
                <a:srgbClr val="292929"/>
              </a:solidFill>
              <a:cs typeface="Arial" panose="020B0604020202020204" pitchFamily="34" charset="0"/>
            </a:endParaRPr>
          </a:p>
          <a:p>
            <a:endParaRPr lang="en-IN" dirty="0"/>
          </a:p>
        </p:txBody>
      </p:sp>
      <p:sp>
        <p:nvSpPr>
          <p:cNvPr id="4" name="Date Placeholder 3">
            <a:extLst>
              <a:ext uri="{FF2B5EF4-FFF2-40B4-BE49-F238E27FC236}">
                <a16:creationId xmlns:a16="http://schemas.microsoft.com/office/drawing/2014/main" id="{2FBD52CA-C05E-4ED0-93ED-B6BCCCB2912B}"/>
              </a:ext>
            </a:extLst>
          </p:cNvPr>
          <p:cNvSpPr>
            <a:spLocks noGrp="1"/>
          </p:cNvSpPr>
          <p:nvPr>
            <p:ph type="dt" sz="half" idx="10"/>
          </p:nvPr>
        </p:nvSpPr>
        <p:spPr/>
        <p:txBody>
          <a:bodyPr/>
          <a:lstStyle/>
          <a:p>
            <a:fld id="{E2232292-ECE0-431B-8F66-CC00D08E802A}" type="datetime3">
              <a:rPr lang="en-US" smtClean="0"/>
              <a:t>4 October 2024</a:t>
            </a:fld>
            <a:endParaRPr lang="en-US" dirty="0"/>
          </a:p>
        </p:txBody>
      </p:sp>
      <p:sp>
        <p:nvSpPr>
          <p:cNvPr id="6" name="Slide Number Placeholder 5">
            <a:extLst>
              <a:ext uri="{FF2B5EF4-FFF2-40B4-BE49-F238E27FC236}">
                <a16:creationId xmlns:a16="http://schemas.microsoft.com/office/drawing/2014/main" id="{BDEBEDBC-8F67-4FF3-B903-352BC604FE11}"/>
              </a:ext>
            </a:extLst>
          </p:cNvPr>
          <p:cNvSpPr>
            <a:spLocks noGrp="1"/>
          </p:cNvSpPr>
          <p:nvPr>
            <p:ph type="sldNum" sz="quarter" idx="12"/>
          </p:nvPr>
        </p:nvSpPr>
        <p:spPr/>
        <p:txBody>
          <a:bodyPr/>
          <a:lstStyle/>
          <a:p>
            <a:fld id="{7B28076C-CE04-4A00-BFAA-A90EA8355859}" type="slidenum">
              <a:rPr lang="en-US" smtClean="0"/>
              <a:pPr/>
              <a:t>8</a:t>
            </a:fld>
            <a:endParaRPr lang="en-US"/>
          </a:p>
        </p:txBody>
      </p:sp>
      <p:sp>
        <p:nvSpPr>
          <p:cNvPr id="7" name="Footer Placeholder 6">
            <a:extLst>
              <a:ext uri="{FF2B5EF4-FFF2-40B4-BE49-F238E27FC236}">
                <a16:creationId xmlns:a16="http://schemas.microsoft.com/office/drawing/2014/main" id="{824B5E61-14AB-CC11-DFAB-854743EEA805}"/>
              </a:ext>
            </a:extLst>
          </p:cNvPr>
          <p:cNvSpPr>
            <a:spLocks noGrp="1"/>
          </p:cNvSpPr>
          <p:nvPr>
            <p:ph type="ftr" sz="quarter" idx="4294967295"/>
          </p:nvPr>
        </p:nvSpPr>
        <p:spPr>
          <a:xfrm>
            <a:off x="2866360" y="6492875"/>
            <a:ext cx="3429000" cy="365125"/>
          </a:xfrm>
        </p:spPr>
        <p:txBody>
          <a:bodyPr/>
          <a:lstStyle/>
          <a:p>
            <a:r>
              <a:rPr lang="en-US" dirty="0"/>
              <a:t>Department of Computer Science and Engineering</a:t>
            </a:r>
            <a:endParaRPr lang="en-US" b="1" dirty="0"/>
          </a:p>
        </p:txBody>
      </p:sp>
    </p:spTree>
    <p:extLst>
      <p:ext uri="{BB962C8B-B14F-4D97-AF65-F5344CB8AC3E}">
        <p14:creationId xmlns:p14="http://schemas.microsoft.com/office/powerpoint/2010/main" val="369824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E070-4E03-4253-AAB0-7FC6861223F1}"/>
              </a:ext>
            </a:extLst>
          </p:cNvPr>
          <p:cNvSpPr>
            <a:spLocks noGrp="1"/>
          </p:cNvSpPr>
          <p:nvPr>
            <p:ph type="title"/>
          </p:nvPr>
        </p:nvSpPr>
        <p:spPr>
          <a:xfrm>
            <a:off x="298940" y="228600"/>
            <a:ext cx="8229600" cy="806449"/>
          </a:xfrm>
        </p:spPr>
        <p:txBody>
          <a:bodyPr>
            <a:normAutofit/>
          </a:bodyPr>
          <a:lstStyle/>
          <a:p>
            <a:r>
              <a:rPr lang="en-US" sz="3600" b="1" dirty="0">
                <a:solidFill>
                  <a:srgbClr val="C00000"/>
                </a:solidFill>
                <a:cs typeface="Arial" pitchFamily="34" charset="0"/>
              </a:rPr>
              <a:t>CLASSIFICATION ALGORTIHM</a:t>
            </a:r>
            <a:endParaRPr lang="en-IN" sz="3600" dirty="0"/>
          </a:p>
        </p:txBody>
      </p:sp>
      <p:sp>
        <p:nvSpPr>
          <p:cNvPr id="3" name="Content Placeholder 2">
            <a:extLst>
              <a:ext uri="{FF2B5EF4-FFF2-40B4-BE49-F238E27FC236}">
                <a16:creationId xmlns:a16="http://schemas.microsoft.com/office/drawing/2014/main" id="{735CA8CB-7E9D-4408-91D4-A02B97D4982D}"/>
              </a:ext>
            </a:extLst>
          </p:cNvPr>
          <p:cNvSpPr>
            <a:spLocks noGrp="1"/>
          </p:cNvSpPr>
          <p:nvPr>
            <p:ph idx="1"/>
          </p:nvPr>
        </p:nvSpPr>
        <p:spPr>
          <a:xfrm>
            <a:off x="298940" y="1219200"/>
            <a:ext cx="8654359" cy="4952999"/>
          </a:xfrm>
        </p:spPr>
        <p:txBody>
          <a:bodyPr>
            <a:noAutofit/>
          </a:bodyPr>
          <a:lstStyle/>
          <a:p>
            <a:pPr algn="just">
              <a:lnSpc>
                <a:spcPct val="150000"/>
              </a:lnSpc>
            </a:pPr>
            <a:r>
              <a:rPr lang="en-US" sz="2200" dirty="0"/>
              <a:t>We choose random forest classifier model because,  prediction feature is a discrete class label. Random forest classifier is a ensemble learning model that operates by constructing a multitude of decision trees at training time.</a:t>
            </a:r>
          </a:p>
          <a:p>
            <a:pPr algn="just">
              <a:lnSpc>
                <a:spcPct val="150000"/>
              </a:lnSpc>
            </a:pPr>
            <a:r>
              <a:rPr lang="en-US" sz="2200" dirty="0"/>
              <a:t>For classification tasks the output of the random forest is the class selected by most trees so that our accuracy will also be high.</a:t>
            </a:r>
          </a:p>
          <a:p>
            <a:pPr algn="just">
              <a:lnSpc>
                <a:spcPct val="150000"/>
              </a:lnSpc>
            </a:pPr>
            <a:r>
              <a:rPr lang="en-US" sz="2200" dirty="0"/>
              <a:t>From SkLearn.ensemble we import Randomforest classifier into our Model </a:t>
            </a:r>
          </a:p>
          <a:p>
            <a:pPr algn="just">
              <a:lnSpc>
                <a:spcPct val="150000"/>
              </a:lnSpc>
            </a:pPr>
            <a:r>
              <a:rPr lang="en-US" sz="2200" dirty="0"/>
              <a:t>Model.fit () is used for training model and Model.predict() is used for prediction</a:t>
            </a:r>
          </a:p>
        </p:txBody>
      </p:sp>
      <p:sp>
        <p:nvSpPr>
          <p:cNvPr id="4" name="Date Placeholder 3">
            <a:extLst>
              <a:ext uri="{FF2B5EF4-FFF2-40B4-BE49-F238E27FC236}">
                <a16:creationId xmlns:a16="http://schemas.microsoft.com/office/drawing/2014/main" id="{CB48C24B-E153-4BF5-8CBD-FA822331E4A8}"/>
              </a:ext>
            </a:extLst>
          </p:cNvPr>
          <p:cNvSpPr>
            <a:spLocks noGrp="1"/>
          </p:cNvSpPr>
          <p:nvPr>
            <p:ph type="dt" sz="half" idx="10"/>
          </p:nvPr>
        </p:nvSpPr>
        <p:spPr/>
        <p:txBody>
          <a:bodyPr/>
          <a:lstStyle/>
          <a:p>
            <a:fld id="{8D4ACDA3-B70A-4ED5-8B00-C299AEC5364E}" type="datetime3">
              <a:rPr lang="en-US" smtClean="0"/>
              <a:t>4 October 2024</a:t>
            </a:fld>
            <a:endParaRPr lang="en-US"/>
          </a:p>
        </p:txBody>
      </p:sp>
      <p:sp>
        <p:nvSpPr>
          <p:cNvPr id="6" name="Slide Number Placeholder 5">
            <a:extLst>
              <a:ext uri="{FF2B5EF4-FFF2-40B4-BE49-F238E27FC236}">
                <a16:creationId xmlns:a16="http://schemas.microsoft.com/office/drawing/2014/main" id="{30B86D35-F971-40BC-B385-31D14C562CF7}"/>
              </a:ext>
            </a:extLst>
          </p:cNvPr>
          <p:cNvSpPr>
            <a:spLocks noGrp="1"/>
          </p:cNvSpPr>
          <p:nvPr>
            <p:ph type="sldNum" sz="quarter" idx="12"/>
          </p:nvPr>
        </p:nvSpPr>
        <p:spPr/>
        <p:txBody>
          <a:bodyPr/>
          <a:lstStyle/>
          <a:p>
            <a:fld id="{7B28076C-CE04-4A00-BFAA-A90EA8355859}" type="slidenum">
              <a:rPr lang="en-US" smtClean="0"/>
              <a:pPr/>
              <a:t>9</a:t>
            </a:fld>
            <a:endParaRPr lang="en-US"/>
          </a:p>
        </p:txBody>
      </p:sp>
      <p:sp>
        <p:nvSpPr>
          <p:cNvPr id="7" name="Footer Placeholder 6">
            <a:extLst>
              <a:ext uri="{FF2B5EF4-FFF2-40B4-BE49-F238E27FC236}">
                <a16:creationId xmlns:a16="http://schemas.microsoft.com/office/drawing/2014/main" id="{06FD63E7-5ECC-0A5E-1DFE-140A7ECEFC70}"/>
              </a:ext>
            </a:extLst>
          </p:cNvPr>
          <p:cNvSpPr>
            <a:spLocks noGrp="1"/>
          </p:cNvSpPr>
          <p:nvPr>
            <p:ph type="ftr" sz="quarter" idx="4294967295"/>
          </p:nvPr>
        </p:nvSpPr>
        <p:spPr>
          <a:xfrm>
            <a:off x="2911619" y="6446837"/>
            <a:ext cx="3429000" cy="365125"/>
          </a:xfrm>
        </p:spPr>
        <p:txBody>
          <a:bodyPr/>
          <a:lstStyle/>
          <a:p>
            <a:r>
              <a:rPr lang="en-US" dirty="0"/>
              <a:t>Department of Computer Science and Engineering</a:t>
            </a:r>
            <a:endParaRPr lang="en-US" b="1" dirty="0"/>
          </a:p>
        </p:txBody>
      </p:sp>
    </p:spTree>
    <p:extLst>
      <p:ext uri="{BB962C8B-B14F-4D97-AF65-F5344CB8AC3E}">
        <p14:creationId xmlns:p14="http://schemas.microsoft.com/office/powerpoint/2010/main" val="1285106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19FCE9-CEA9-474A-B828-BAB00D6EE047}" type="datetime3">
              <a:rPr lang="en-US" smtClean="0"/>
              <a:t>4 October 2024</a:t>
            </a:fld>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pPr/>
              <a:t>10</a:t>
            </a:fld>
            <a:endParaRPr lang="en-US"/>
          </a:p>
        </p:txBody>
      </p:sp>
      <p:sp>
        <p:nvSpPr>
          <p:cNvPr id="7" name="Title 1"/>
          <p:cNvSpPr>
            <a:spLocks noGrp="1"/>
          </p:cNvSpPr>
          <p:nvPr>
            <p:ph type="title"/>
          </p:nvPr>
        </p:nvSpPr>
        <p:spPr>
          <a:xfrm>
            <a:off x="381000" y="381000"/>
            <a:ext cx="8229600" cy="685800"/>
          </a:xfrm>
        </p:spPr>
        <p:txBody>
          <a:bodyPr>
            <a:normAutofit/>
          </a:bodyPr>
          <a:lstStyle/>
          <a:p>
            <a:pPr algn="l"/>
            <a:r>
              <a:rPr lang="en-US" sz="3600" b="1" dirty="0">
                <a:solidFill>
                  <a:srgbClr val="C00000"/>
                </a:solidFill>
                <a:cs typeface="Arial" pitchFamily="34" charset="0"/>
              </a:rPr>
              <a:t>               RESULTS AND DISCUSSION</a:t>
            </a:r>
          </a:p>
        </p:txBody>
      </p:sp>
      <p:sp>
        <p:nvSpPr>
          <p:cNvPr id="8" name="Content Placeholder 2"/>
          <p:cNvSpPr>
            <a:spLocks noGrp="1"/>
          </p:cNvSpPr>
          <p:nvPr>
            <p:ph idx="1"/>
          </p:nvPr>
        </p:nvSpPr>
        <p:spPr>
          <a:xfrm>
            <a:off x="457200" y="1562100"/>
            <a:ext cx="8305800" cy="3733800"/>
          </a:xfrm>
        </p:spPr>
        <p:txBody>
          <a:bodyPr>
            <a:normAutofit fontScale="92500" lnSpcReduction="10000"/>
          </a:bodyPr>
          <a:lstStyle/>
          <a:p>
            <a:pPr algn="just">
              <a:lnSpc>
                <a:spcPct val="170000"/>
              </a:lnSpc>
            </a:pPr>
            <a:r>
              <a:rPr lang="en-US" sz="2600" dirty="0"/>
              <a:t>Confusion matrix and it’s related metrics given a good score, by this we can conclude that our model performed well.</a:t>
            </a:r>
          </a:p>
          <a:p>
            <a:pPr algn="just">
              <a:lnSpc>
                <a:spcPct val="170000"/>
              </a:lnSpc>
            </a:pPr>
            <a:r>
              <a:rPr lang="en-US" sz="2600" dirty="0"/>
              <a:t>This model is pretty good because by implementing all the steps above mentioned we got an accuracy equal to 99%.Therefore,it is a good model and our predictions will be effective .</a:t>
            </a:r>
          </a:p>
          <a:p>
            <a:pPr marL="0" indent="0" algn="just">
              <a:buNone/>
            </a:pPr>
            <a:endParaRPr lang="en-US" dirty="0"/>
          </a:p>
        </p:txBody>
      </p:sp>
      <p:sp>
        <p:nvSpPr>
          <p:cNvPr id="3" name="Footer Placeholder 2">
            <a:extLst>
              <a:ext uri="{FF2B5EF4-FFF2-40B4-BE49-F238E27FC236}">
                <a16:creationId xmlns:a16="http://schemas.microsoft.com/office/drawing/2014/main" id="{81743424-EC82-CB7F-E4BE-A62D763905F1}"/>
              </a:ext>
            </a:extLst>
          </p:cNvPr>
          <p:cNvSpPr>
            <a:spLocks noGrp="1"/>
          </p:cNvSpPr>
          <p:nvPr>
            <p:ph type="ftr" sz="quarter" idx="4294967295"/>
          </p:nvPr>
        </p:nvSpPr>
        <p:spPr>
          <a:xfrm>
            <a:off x="2857500" y="6477000"/>
            <a:ext cx="3429000" cy="365125"/>
          </a:xfrm>
        </p:spPr>
        <p:txBody>
          <a:bodyPr/>
          <a:lstStyle/>
          <a:p>
            <a:r>
              <a:rPr lang="en-US"/>
              <a:t>Department of Computer Science and Engineering</a:t>
            </a:r>
            <a:endParaRPr lang="en-US" b="1" dirty="0"/>
          </a:p>
        </p:txBody>
      </p:sp>
    </p:spTree>
    <p:extLst>
      <p:ext uri="{BB962C8B-B14F-4D97-AF65-F5344CB8AC3E}">
        <p14:creationId xmlns:p14="http://schemas.microsoft.com/office/powerpoint/2010/main" val="225862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9FDB275-AA56-4323-9F15-4DC35AD9BA26}"/>
              </a:ext>
            </a:extLst>
          </p:cNvPr>
          <p:cNvSpPr>
            <a:spLocks noGrp="1"/>
          </p:cNvSpPr>
          <p:nvPr>
            <p:ph type="dt" sz="half" idx="10"/>
          </p:nvPr>
        </p:nvSpPr>
        <p:spPr/>
        <p:txBody>
          <a:bodyPr/>
          <a:lstStyle/>
          <a:p>
            <a:fld id="{9B6BA565-DCC2-4322-8924-3EFF3032CF26}" type="datetime3">
              <a:rPr lang="en-US" smtClean="0"/>
              <a:t>4 October 2024</a:t>
            </a:fld>
            <a:endParaRPr lang="en-US"/>
          </a:p>
        </p:txBody>
      </p:sp>
      <p:sp>
        <p:nvSpPr>
          <p:cNvPr id="6" name="Slide Number Placeholder 5">
            <a:extLst>
              <a:ext uri="{FF2B5EF4-FFF2-40B4-BE49-F238E27FC236}">
                <a16:creationId xmlns:a16="http://schemas.microsoft.com/office/drawing/2014/main" id="{0A3526F5-95FF-4362-BD46-4B37F490899B}"/>
              </a:ext>
            </a:extLst>
          </p:cNvPr>
          <p:cNvSpPr>
            <a:spLocks noGrp="1"/>
          </p:cNvSpPr>
          <p:nvPr>
            <p:ph type="sldNum" sz="quarter" idx="12"/>
          </p:nvPr>
        </p:nvSpPr>
        <p:spPr/>
        <p:txBody>
          <a:bodyPr/>
          <a:lstStyle/>
          <a:p>
            <a:fld id="{7B28076C-CE04-4A00-BFAA-A90EA8355859}" type="slidenum">
              <a:rPr lang="en-US" smtClean="0"/>
              <a:pPr/>
              <a:t>11</a:t>
            </a:fld>
            <a:endParaRPr lang="en-US"/>
          </a:p>
        </p:txBody>
      </p:sp>
      <p:pic>
        <p:nvPicPr>
          <p:cNvPr id="12" name="Content Placeholder 11">
            <a:extLst>
              <a:ext uri="{FF2B5EF4-FFF2-40B4-BE49-F238E27FC236}">
                <a16:creationId xmlns:a16="http://schemas.microsoft.com/office/drawing/2014/main" id="{C7786B90-7694-48B9-8C6F-7A47D1BC48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83890"/>
            <a:ext cx="7391400" cy="4676536"/>
          </a:xfrm>
        </p:spPr>
      </p:pic>
      <p:sp>
        <p:nvSpPr>
          <p:cNvPr id="9" name="Title 1">
            <a:extLst>
              <a:ext uri="{FF2B5EF4-FFF2-40B4-BE49-F238E27FC236}">
                <a16:creationId xmlns:a16="http://schemas.microsoft.com/office/drawing/2014/main" id="{E8F9E99E-9C41-4A6B-85F9-713434E17B97}"/>
              </a:ext>
            </a:extLst>
          </p:cNvPr>
          <p:cNvSpPr>
            <a:spLocks noGrp="1"/>
          </p:cNvSpPr>
          <p:nvPr>
            <p:ph type="title"/>
          </p:nvPr>
        </p:nvSpPr>
        <p:spPr>
          <a:xfrm>
            <a:off x="381000" y="381000"/>
            <a:ext cx="8229600" cy="685800"/>
          </a:xfrm>
        </p:spPr>
        <p:txBody>
          <a:bodyPr>
            <a:normAutofit/>
          </a:bodyPr>
          <a:lstStyle/>
          <a:p>
            <a:pPr algn="l"/>
            <a:r>
              <a:rPr lang="en-US" sz="3600" b="1" dirty="0">
                <a:solidFill>
                  <a:srgbClr val="C00000"/>
                </a:solidFill>
                <a:cs typeface="Arial" pitchFamily="34" charset="0"/>
              </a:rPr>
              <a:t>               RESULTS AND DISCUSSION</a:t>
            </a:r>
          </a:p>
        </p:txBody>
      </p:sp>
      <p:sp>
        <p:nvSpPr>
          <p:cNvPr id="3" name="Footer Placeholder 2">
            <a:extLst>
              <a:ext uri="{FF2B5EF4-FFF2-40B4-BE49-F238E27FC236}">
                <a16:creationId xmlns:a16="http://schemas.microsoft.com/office/drawing/2014/main" id="{7325D31A-B3F7-2582-1910-0D19BF81BFBB}"/>
              </a:ext>
            </a:extLst>
          </p:cNvPr>
          <p:cNvSpPr>
            <a:spLocks noGrp="1"/>
          </p:cNvSpPr>
          <p:nvPr>
            <p:ph type="ftr" sz="quarter" idx="4294967295"/>
          </p:nvPr>
        </p:nvSpPr>
        <p:spPr>
          <a:xfrm>
            <a:off x="2971800" y="6477000"/>
            <a:ext cx="3429000" cy="365125"/>
          </a:xfrm>
        </p:spPr>
        <p:txBody>
          <a:bodyPr/>
          <a:lstStyle/>
          <a:p>
            <a:r>
              <a:rPr lang="en-US"/>
              <a:t>Department of Computer Science and Engineering</a:t>
            </a:r>
            <a:endParaRPr lang="en-US" b="1" dirty="0"/>
          </a:p>
        </p:txBody>
      </p:sp>
    </p:spTree>
    <p:extLst>
      <p:ext uri="{BB962C8B-B14F-4D97-AF65-F5344CB8AC3E}">
        <p14:creationId xmlns:p14="http://schemas.microsoft.com/office/powerpoint/2010/main" val="236138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9FDB275-AA56-4323-9F15-4DC35AD9BA26}"/>
              </a:ext>
            </a:extLst>
          </p:cNvPr>
          <p:cNvSpPr>
            <a:spLocks noGrp="1"/>
          </p:cNvSpPr>
          <p:nvPr>
            <p:ph type="dt" sz="half" idx="10"/>
          </p:nvPr>
        </p:nvSpPr>
        <p:spPr/>
        <p:txBody>
          <a:bodyPr/>
          <a:lstStyle/>
          <a:p>
            <a:fld id="{64C7E46D-727D-4065-B06F-C639051A867C}" type="datetime3">
              <a:rPr lang="en-US" smtClean="0"/>
              <a:t>4 October 2024</a:t>
            </a:fld>
            <a:endParaRPr lang="en-US"/>
          </a:p>
        </p:txBody>
      </p:sp>
      <p:sp>
        <p:nvSpPr>
          <p:cNvPr id="6" name="Slide Number Placeholder 5">
            <a:extLst>
              <a:ext uri="{FF2B5EF4-FFF2-40B4-BE49-F238E27FC236}">
                <a16:creationId xmlns:a16="http://schemas.microsoft.com/office/drawing/2014/main" id="{0A3526F5-95FF-4362-BD46-4B37F490899B}"/>
              </a:ext>
            </a:extLst>
          </p:cNvPr>
          <p:cNvSpPr>
            <a:spLocks noGrp="1"/>
          </p:cNvSpPr>
          <p:nvPr>
            <p:ph type="sldNum" sz="quarter" idx="12"/>
          </p:nvPr>
        </p:nvSpPr>
        <p:spPr/>
        <p:txBody>
          <a:bodyPr/>
          <a:lstStyle/>
          <a:p>
            <a:fld id="{7B28076C-CE04-4A00-BFAA-A90EA8355859}" type="slidenum">
              <a:rPr lang="en-US" smtClean="0"/>
              <a:pPr/>
              <a:t>12</a:t>
            </a:fld>
            <a:endParaRPr lang="en-US"/>
          </a:p>
        </p:txBody>
      </p:sp>
      <p:pic>
        <p:nvPicPr>
          <p:cNvPr id="10" name="Content Placeholder 9">
            <a:extLst>
              <a:ext uri="{FF2B5EF4-FFF2-40B4-BE49-F238E27FC236}">
                <a16:creationId xmlns:a16="http://schemas.microsoft.com/office/drawing/2014/main" id="{DFF2FE22-78D4-45D1-B52D-56C1601226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0657" y="1371600"/>
            <a:ext cx="7282686" cy="4525963"/>
          </a:xfrm>
        </p:spPr>
      </p:pic>
      <p:sp>
        <p:nvSpPr>
          <p:cNvPr id="9" name="Title 1">
            <a:extLst>
              <a:ext uri="{FF2B5EF4-FFF2-40B4-BE49-F238E27FC236}">
                <a16:creationId xmlns:a16="http://schemas.microsoft.com/office/drawing/2014/main" id="{E41E12CF-CA42-41E0-9410-74080DD3BF64}"/>
              </a:ext>
            </a:extLst>
          </p:cNvPr>
          <p:cNvSpPr>
            <a:spLocks noGrp="1"/>
          </p:cNvSpPr>
          <p:nvPr>
            <p:ph type="title"/>
          </p:nvPr>
        </p:nvSpPr>
        <p:spPr>
          <a:xfrm>
            <a:off x="381000" y="381000"/>
            <a:ext cx="8229600" cy="685800"/>
          </a:xfrm>
        </p:spPr>
        <p:txBody>
          <a:bodyPr>
            <a:normAutofit/>
          </a:bodyPr>
          <a:lstStyle/>
          <a:p>
            <a:pPr algn="l"/>
            <a:r>
              <a:rPr lang="en-US" sz="3600" b="1" dirty="0">
                <a:solidFill>
                  <a:srgbClr val="C00000"/>
                </a:solidFill>
                <a:cs typeface="Arial" pitchFamily="34" charset="0"/>
              </a:rPr>
              <a:t>               RESULTS AND DISCUSSION</a:t>
            </a:r>
          </a:p>
        </p:txBody>
      </p:sp>
      <p:sp>
        <p:nvSpPr>
          <p:cNvPr id="3" name="Footer Placeholder 2">
            <a:extLst>
              <a:ext uri="{FF2B5EF4-FFF2-40B4-BE49-F238E27FC236}">
                <a16:creationId xmlns:a16="http://schemas.microsoft.com/office/drawing/2014/main" id="{C13624BA-8821-4F34-91E5-A3CAA40321C7}"/>
              </a:ext>
            </a:extLst>
          </p:cNvPr>
          <p:cNvSpPr>
            <a:spLocks noGrp="1"/>
          </p:cNvSpPr>
          <p:nvPr>
            <p:ph type="ftr" sz="quarter" idx="4294967295"/>
          </p:nvPr>
        </p:nvSpPr>
        <p:spPr>
          <a:xfrm>
            <a:off x="2880537" y="6477000"/>
            <a:ext cx="3429000" cy="365125"/>
          </a:xfrm>
        </p:spPr>
        <p:txBody>
          <a:bodyPr/>
          <a:lstStyle/>
          <a:p>
            <a:r>
              <a:rPr lang="en-US"/>
              <a:t>Department of Computer Science and Engineering</a:t>
            </a:r>
            <a:endParaRPr lang="en-US" b="1" dirty="0"/>
          </a:p>
        </p:txBody>
      </p:sp>
    </p:spTree>
    <p:extLst>
      <p:ext uri="{BB962C8B-B14F-4D97-AF65-F5344CB8AC3E}">
        <p14:creationId xmlns:p14="http://schemas.microsoft.com/office/powerpoint/2010/main" val="3288510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00885E8-0A0F-4540-B8F3-17E0B3611BF8}" type="datetime3">
              <a:rPr lang="en-US" smtClean="0"/>
              <a:t>4 October 2024</a:t>
            </a:fld>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pPr/>
              <a:t>13</a:t>
            </a:fld>
            <a:endParaRPr lang="en-US"/>
          </a:p>
        </p:txBody>
      </p:sp>
      <p:sp>
        <p:nvSpPr>
          <p:cNvPr id="7" name="Title 1"/>
          <p:cNvSpPr>
            <a:spLocks noGrp="1"/>
          </p:cNvSpPr>
          <p:nvPr>
            <p:ph type="title"/>
          </p:nvPr>
        </p:nvSpPr>
        <p:spPr>
          <a:xfrm>
            <a:off x="533400" y="381000"/>
            <a:ext cx="8229600" cy="685800"/>
          </a:xfrm>
        </p:spPr>
        <p:txBody>
          <a:bodyPr>
            <a:normAutofit fontScale="90000"/>
          </a:bodyPr>
          <a:lstStyle/>
          <a:p>
            <a:pPr algn="l"/>
            <a:r>
              <a:rPr lang="en-US" dirty="0">
                <a:latin typeface="Arial" pitchFamily="34" charset="0"/>
                <a:cs typeface="Arial" pitchFamily="34" charset="0"/>
              </a:rPr>
              <a:t/>
            </a:r>
            <a:br>
              <a:rPr lang="en-US" dirty="0">
                <a:latin typeface="Arial" pitchFamily="34" charset="0"/>
                <a:cs typeface="Arial" pitchFamily="34" charset="0"/>
              </a:rPr>
            </a:br>
            <a:r>
              <a:rPr lang="en-US" dirty="0">
                <a:latin typeface="Arial" pitchFamily="34" charset="0"/>
                <a:cs typeface="Arial" pitchFamily="34" charset="0"/>
              </a:rPr>
              <a:t>       </a:t>
            </a:r>
            <a:r>
              <a:rPr lang="en-US" sz="4000" b="1" dirty="0">
                <a:solidFill>
                  <a:srgbClr val="C00000"/>
                </a:solidFill>
                <a:cs typeface="Arial" pitchFamily="34" charset="0"/>
              </a:rPr>
              <a:t>CONCLUSION &amp; FUTURE WORK</a:t>
            </a:r>
            <a:r>
              <a:rPr lang="en-US" dirty="0">
                <a:latin typeface="Arial" pitchFamily="34" charset="0"/>
                <a:cs typeface="Arial" pitchFamily="34" charset="0"/>
              </a:rPr>
              <a:t/>
            </a:r>
            <a:br>
              <a:rPr lang="en-US" dirty="0">
                <a:latin typeface="Arial" pitchFamily="34" charset="0"/>
                <a:cs typeface="Arial" pitchFamily="34" charset="0"/>
              </a:rPr>
            </a:br>
            <a:endParaRPr lang="en-US" dirty="0">
              <a:latin typeface="Arial" pitchFamily="34" charset="0"/>
              <a:cs typeface="Arial" pitchFamily="34" charset="0"/>
            </a:endParaRPr>
          </a:p>
        </p:txBody>
      </p:sp>
      <p:sp>
        <p:nvSpPr>
          <p:cNvPr id="8" name="Content Placeholder 2"/>
          <p:cNvSpPr>
            <a:spLocks noGrp="1"/>
          </p:cNvSpPr>
          <p:nvPr>
            <p:ph idx="1"/>
          </p:nvPr>
        </p:nvSpPr>
        <p:spPr>
          <a:xfrm>
            <a:off x="457200" y="1371600"/>
            <a:ext cx="8229600" cy="4114800"/>
          </a:xfrm>
        </p:spPr>
        <p:txBody>
          <a:bodyPr>
            <a:noAutofit/>
          </a:bodyPr>
          <a:lstStyle/>
          <a:p>
            <a:pPr algn="just">
              <a:lnSpc>
                <a:spcPct val="150000"/>
              </a:lnSpc>
            </a:pPr>
            <a:r>
              <a:rPr lang="en-US" sz="2000" dirty="0">
                <a:cs typeface="Arial" pitchFamily="34" charset="0"/>
              </a:rPr>
              <a:t>Machine learning approaches work well for diagnosis of diabetes. It performs very well with medical datasets. Prediction of diabetes at early stage helps the patient in order to provide appropriate treatment.</a:t>
            </a:r>
          </a:p>
          <a:p>
            <a:pPr algn="just">
              <a:lnSpc>
                <a:spcPct val="150000"/>
              </a:lnSpc>
            </a:pPr>
            <a:r>
              <a:rPr lang="en-US" sz="2000" dirty="0">
                <a:cs typeface="Arial" pitchFamily="34" charset="0"/>
              </a:rPr>
              <a:t>I had taken a wide range of research about different ML Algorithms and finally choose random forest classifier approach to solve this problem.</a:t>
            </a:r>
          </a:p>
          <a:p>
            <a:pPr algn="just">
              <a:lnSpc>
                <a:spcPct val="150000"/>
              </a:lnSpc>
            </a:pPr>
            <a:r>
              <a:rPr lang="en-US" sz="2000" dirty="0"/>
              <a:t>In this project we implement random forest classifier approach and we observed that it given a good accuracy and performed well.</a:t>
            </a:r>
          </a:p>
          <a:p>
            <a:pPr algn="just">
              <a:lnSpc>
                <a:spcPct val="150000"/>
              </a:lnSpc>
            </a:pPr>
            <a:r>
              <a:rPr lang="en-US" sz="2000" dirty="0"/>
              <a:t>In the process of research, I came to know about the various  ML techniques and it’s different algorithms which helps to solve real-world problems. </a:t>
            </a:r>
          </a:p>
        </p:txBody>
      </p:sp>
      <p:sp>
        <p:nvSpPr>
          <p:cNvPr id="3" name="Footer Placeholder 2">
            <a:extLst>
              <a:ext uri="{FF2B5EF4-FFF2-40B4-BE49-F238E27FC236}">
                <a16:creationId xmlns:a16="http://schemas.microsoft.com/office/drawing/2014/main" id="{0063A858-9A09-75E4-083D-37964AB27CAF}"/>
              </a:ext>
            </a:extLst>
          </p:cNvPr>
          <p:cNvSpPr>
            <a:spLocks noGrp="1"/>
          </p:cNvSpPr>
          <p:nvPr>
            <p:ph type="ftr" sz="quarter" idx="4294967295"/>
          </p:nvPr>
        </p:nvSpPr>
        <p:spPr>
          <a:xfrm>
            <a:off x="2933700" y="6477000"/>
            <a:ext cx="3429000" cy="365125"/>
          </a:xfrm>
        </p:spPr>
        <p:txBody>
          <a:bodyPr/>
          <a:lstStyle/>
          <a:p>
            <a:r>
              <a:rPr lang="en-US" dirty="0"/>
              <a:t>Department of Computer Science and Engineering</a:t>
            </a:r>
            <a:endParaRPr lang="en-US" b="1" dirty="0"/>
          </a:p>
        </p:txBody>
      </p:sp>
    </p:spTree>
    <p:extLst>
      <p:ext uri="{BB962C8B-B14F-4D97-AF65-F5344CB8AC3E}">
        <p14:creationId xmlns:p14="http://schemas.microsoft.com/office/powerpoint/2010/main" val="542845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6D66E7F-DEC1-45A0-8E19-12F87E4C15B4}"/>
              </a:ext>
            </a:extLst>
          </p:cNvPr>
          <p:cNvSpPr>
            <a:spLocks noGrp="1"/>
          </p:cNvSpPr>
          <p:nvPr>
            <p:ph type="title"/>
          </p:nvPr>
        </p:nvSpPr>
        <p:spPr/>
        <p:txBody>
          <a:bodyPr>
            <a:normAutofit/>
          </a:bodyPr>
          <a:lstStyle/>
          <a:p>
            <a:r>
              <a:rPr lang="en-US" sz="3600" b="1" dirty="0">
                <a:solidFill>
                  <a:srgbClr val="C00000"/>
                </a:solidFill>
                <a:cs typeface="Arial" pitchFamily="34" charset="0"/>
              </a:rPr>
              <a:t>REFERENCES</a:t>
            </a:r>
            <a:endParaRPr lang="en-IN" sz="3600" dirty="0"/>
          </a:p>
        </p:txBody>
      </p:sp>
      <p:sp>
        <p:nvSpPr>
          <p:cNvPr id="9" name="Content Placeholder 8">
            <a:extLst>
              <a:ext uri="{FF2B5EF4-FFF2-40B4-BE49-F238E27FC236}">
                <a16:creationId xmlns:a16="http://schemas.microsoft.com/office/drawing/2014/main" id="{248B1995-2397-40B6-8D46-85CDDE3A2ED0}"/>
              </a:ext>
            </a:extLst>
          </p:cNvPr>
          <p:cNvSpPr>
            <a:spLocks noGrp="1"/>
          </p:cNvSpPr>
          <p:nvPr>
            <p:ph sz="half" idx="2"/>
          </p:nvPr>
        </p:nvSpPr>
        <p:spPr>
          <a:xfrm>
            <a:off x="647700" y="1752600"/>
            <a:ext cx="8229600" cy="3352800"/>
          </a:xfrm>
        </p:spPr>
        <p:txBody>
          <a:bodyPr>
            <a:normAutofit/>
          </a:bodyPr>
          <a:lstStyle/>
          <a:p>
            <a:pPr algn="just">
              <a:buFont typeface="+mj-lt"/>
              <a:buAutoNum type="arabicPeriod"/>
            </a:pPr>
            <a:r>
              <a:rPr lang="en-IN" sz="1700" dirty="0">
                <a:hlinkClick r:id="rId2">
                  <a:extLst>
                    <a:ext uri="{A12FA001-AC4F-418D-AE19-62706E023703}">
                      <ahyp:hlinkClr xmlns:ahyp="http://schemas.microsoft.com/office/drawing/2018/hyperlinkcolor" xmlns="" val="tx"/>
                    </a:ext>
                  </a:extLst>
                </a:hlinkClick>
              </a:rPr>
              <a:t>https://archive.ics.uci.edu/ml/datasets/Early+stage+diabetes+risk+prediction+dataset</a:t>
            </a:r>
            <a:r>
              <a:rPr lang="en-IN" sz="1700" dirty="0"/>
              <a:t>.</a:t>
            </a:r>
          </a:p>
          <a:p>
            <a:pPr algn="just">
              <a:buFont typeface="+mj-lt"/>
              <a:buAutoNum type="arabicPeriod"/>
            </a:pPr>
            <a:endParaRPr lang="en-IN" sz="1700" dirty="0"/>
          </a:p>
          <a:p>
            <a:pPr algn="just">
              <a:buFont typeface="+mj-lt"/>
              <a:buAutoNum type="arabicPeriod"/>
            </a:pPr>
            <a:r>
              <a:rPr lang="en-IN" sz="1700" dirty="0">
                <a:hlinkClick r:id="rId3">
                  <a:extLst>
                    <a:ext uri="{A12FA001-AC4F-418D-AE19-62706E023703}">
                      <ahyp:hlinkClr xmlns:ahyp="http://schemas.microsoft.com/office/drawing/2018/hyperlinkcolor" xmlns="" val="tx"/>
                    </a:ext>
                  </a:extLst>
                </a:hlinkClick>
              </a:rPr>
              <a:t>https://www.healthline.com/health/diabetes</a:t>
            </a:r>
            <a:r>
              <a:rPr lang="en-IN" sz="1700" dirty="0"/>
              <a:t>.</a:t>
            </a:r>
          </a:p>
          <a:p>
            <a:pPr marL="457200" indent="-457200" algn="just">
              <a:buFont typeface="+mj-lt"/>
              <a:buAutoNum type="arabicPeriod"/>
            </a:pPr>
            <a:endParaRPr lang="en-IN" sz="1700" dirty="0"/>
          </a:p>
          <a:p>
            <a:pPr algn="just">
              <a:buFont typeface="+mj-lt"/>
              <a:buAutoNum type="arabicPeriod"/>
            </a:pPr>
            <a:r>
              <a:rPr lang="en-IN" sz="1700" dirty="0">
                <a:hlinkClick r:id="rId4">
                  <a:extLst>
                    <a:ext uri="{A12FA001-AC4F-418D-AE19-62706E023703}">
                      <ahyp:hlinkClr xmlns:ahyp="http://schemas.microsoft.com/office/drawing/2018/hyperlinkcolor" xmlns="" val="tx"/>
                    </a:ext>
                  </a:extLst>
                </a:hlinkClick>
              </a:rPr>
              <a:t>https://www.python.org/doc/</a:t>
            </a:r>
          </a:p>
          <a:p>
            <a:pPr marL="457200" indent="-457200" algn="just">
              <a:buFont typeface="+mj-lt"/>
              <a:buAutoNum type="arabicPeriod"/>
            </a:pPr>
            <a:endParaRPr lang="en-IN" sz="1700" dirty="0">
              <a:hlinkClick r:id="rId4">
                <a:extLst>
                  <a:ext uri="{A12FA001-AC4F-418D-AE19-62706E023703}">
                    <ahyp:hlinkClr xmlns:ahyp="http://schemas.microsoft.com/office/drawing/2018/hyperlinkcolor" xmlns="" val="tx"/>
                  </a:ext>
                </a:extLst>
              </a:hlinkClick>
            </a:endParaRPr>
          </a:p>
          <a:p>
            <a:pPr algn="just">
              <a:buFont typeface="+mj-lt"/>
              <a:buAutoNum type="arabicPeriod"/>
            </a:pPr>
            <a:r>
              <a:rPr lang="en-IN" sz="1700" dirty="0">
                <a:hlinkClick r:id="rId5">
                  <a:extLst>
                    <a:ext uri="{A12FA001-AC4F-418D-AE19-62706E023703}">
                      <ahyp:hlinkClr xmlns:ahyp="http://schemas.microsoft.com/office/drawing/2018/hyperlinkcolor" xmlns="" val="tx"/>
                    </a:ext>
                  </a:extLst>
                </a:hlinkClick>
              </a:rPr>
              <a:t>https://scikit-learn.org/stable/</a:t>
            </a:r>
            <a:r>
              <a:rPr lang="en-IN" sz="1700" dirty="0"/>
              <a:t>.</a:t>
            </a:r>
          </a:p>
          <a:p>
            <a:pPr algn="just">
              <a:buFont typeface="+mj-lt"/>
              <a:buAutoNum type="arabicPeriod"/>
            </a:pPr>
            <a:endParaRPr lang="en-IN" sz="1700" dirty="0">
              <a:hlinkClick r:id="rId4">
                <a:extLst>
                  <a:ext uri="{A12FA001-AC4F-418D-AE19-62706E023703}">
                    <ahyp:hlinkClr xmlns:ahyp="http://schemas.microsoft.com/office/drawing/2018/hyperlinkcolor" xmlns="" val="tx"/>
                  </a:ext>
                </a:extLst>
              </a:hlinkClick>
            </a:endParaRPr>
          </a:p>
          <a:p>
            <a:pPr algn="just">
              <a:buFont typeface="+mj-lt"/>
              <a:buAutoNum type="arabicPeriod"/>
            </a:pPr>
            <a:r>
              <a:rPr lang="en-IN" sz="1700" dirty="0">
                <a:hlinkClick r:id="rId4">
                  <a:extLst>
                    <a:ext uri="{A12FA001-AC4F-418D-AE19-62706E023703}">
                      <ahyp:hlinkClr xmlns:ahyp="http://schemas.microsoft.com/office/drawing/2018/hyperlinkcolor" xmlns="" val="tx"/>
                    </a:ext>
                  </a:extLst>
                </a:hlinkClick>
              </a:rPr>
              <a:t>https://towardsdatascience.com/understanding-random-forest-58381e0602d2</a:t>
            </a:r>
            <a:r>
              <a:rPr lang="en-IN" sz="1700" dirty="0"/>
              <a:t>.</a:t>
            </a:r>
          </a:p>
          <a:p>
            <a:pPr algn="just">
              <a:buFont typeface="+mj-lt"/>
              <a:buAutoNum type="arabicPeriod"/>
            </a:pPr>
            <a:endParaRPr lang="en-IN" sz="1800" dirty="0"/>
          </a:p>
          <a:p>
            <a:pPr marL="457200" indent="-457200">
              <a:buFont typeface="+mj-lt"/>
              <a:buAutoNum type="arabicPeriod"/>
            </a:pPr>
            <a:endParaRPr lang="en-IN" sz="2000" dirty="0"/>
          </a:p>
          <a:p>
            <a:pPr marL="457200" indent="-457200">
              <a:buFont typeface="+mj-lt"/>
              <a:buAutoNum type="arabicPeriod"/>
            </a:pPr>
            <a:endParaRPr lang="en-IN" sz="2000" dirty="0"/>
          </a:p>
          <a:p>
            <a:pPr marL="457200" indent="-457200">
              <a:buFont typeface="+mj-lt"/>
              <a:buAutoNum type="arabicPeriod"/>
            </a:pPr>
            <a:endParaRPr lang="en-IN" sz="2000" dirty="0"/>
          </a:p>
          <a:p>
            <a:pPr marL="457200" indent="-457200">
              <a:buFont typeface="+mj-lt"/>
              <a:buAutoNum type="arabicPeriod"/>
            </a:pPr>
            <a:endParaRPr lang="en-IN" sz="2000" dirty="0"/>
          </a:p>
        </p:txBody>
      </p:sp>
      <p:sp>
        <p:nvSpPr>
          <p:cNvPr id="4" name="Date Placeholder 3">
            <a:extLst>
              <a:ext uri="{FF2B5EF4-FFF2-40B4-BE49-F238E27FC236}">
                <a16:creationId xmlns:a16="http://schemas.microsoft.com/office/drawing/2014/main" id="{9ACD1CBF-2A96-43DD-8DC9-9DB6822FA6AC}"/>
              </a:ext>
            </a:extLst>
          </p:cNvPr>
          <p:cNvSpPr>
            <a:spLocks noGrp="1"/>
          </p:cNvSpPr>
          <p:nvPr>
            <p:ph type="dt" sz="half" idx="10"/>
          </p:nvPr>
        </p:nvSpPr>
        <p:spPr/>
        <p:txBody>
          <a:bodyPr/>
          <a:lstStyle/>
          <a:p>
            <a:fld id="{62657493-1C8C-4A3E-BCCA-11B2040A1BF5}" type="datetime3">
              <a:rPr lang="en-US" smtClean="0"/>
              <a:t>4 October 2024</a:t>
            </a:fld>
            <a:endParaRPr lang="en-US"/>
          </a:p>
        </p:txBody>
      </p:sp>
      <p:sp>
        <p:nvSpPr>
          <p:cNvPr id="6" name="Slide Number Placeholder 5">
            <a:extLst>
              <a:ext uri="{FF2B5EF4-FFF2-40B4-BE49-F238E27FC236}">
                <a16:creationId xmlns:a16="http://schemas.microsoft.com/office/drawing/2014/main" id="{45327FD1-9FC2-420E-9264-EA7A9A063EDF}"/>
              </a:ext>
            </a:extLst>
          </p:cNvPr>
          <p:cNvSpPr>
            <a:spLocks noGrp="1"/>
          </p:cNvSpPr>
          <p:nvPr>
            <p:ph type="sldNum" sz="quarter" idx="12"/>
          </p:nvPr>
        </p:nvSpPr>
        <p:spPr/>
        <p:txBody>
          <a:bodyPr/>
          <a:lstStyle/>
          <a:p>
            <a:fld id="{7B28076C-CE04-4A00-BFAA-A90EA8355859}" type="slidenum">
              <a:rPr lang="en-US" smtClean="0"/>
              <a:pPr/>
              <a:t>14</a:t>
            </a:fld>
            <a:endParaRPr lang="en-US"/>
          </a:p>
        </p:txBody>
      </p:sp>
      <p:sp>
        <p:nvSpPr>
          <p:cNvPr id="3" name="Footer Placeholder 2">
            <a:extLst>
              <a:ext uri="{FF2B5EF4-FFF2-40B4-BE49-F238E27FC236}">
                <a16:creationId xmlns:a16="http://schemas.microsoft.com/office/drawing/2014/main" id="{51E1E2B5-4820-CC59-842B-AFA5E602AC70}"/>
              </a:ext>
            </a:extLst>
          </p:cNvPr>
          <p:cNvSpPr>
            <a:spLocks noGrp="1"/>
          </p:cNvSpPr>
          <p:nvPr>
            <p:ph type="ftr" sz="quarter" idx="4294967295"/>
          </p:nvPr>
        </p:nvSpPr>
        <p:spPr>
          <a:xfrm>
            <a:off x="2895600" y="6446837"/>
            <a:ext cx="3429000" cy="365125"/>
          </a:xfrm>
        </p:spPr>
        <p:txBody>
          <a:bodyPr/>
          <a:lstStyle/>
          <a:p>
            <a:r>
              <a:rPr lang="en-US" dirty="0"/>
              <a:t>Department of Computer Science and Engineering</a:t>
            </a:r>
            <a:endParaRPr lang="en-US" b="1" dirty="0"/>
          </a:p>
        </p:txBody>
      </p:sp>
    </p:spTree>
    <p:extLst>
      <p:ext uri="{BB962C8B-B14F-4D97-AF65-F5344CB8AC3E}">
        <p14:creationId xmlns:p14="http://schemas.microsoft.com/office/powerpoint/2010/main" val="13798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D7E30F7-CE19-4B37-83CB-B7735D9446CA}"/>
              </a:ext>
            </a:extLst>
          </p:cNvPr>
          <p:cNvSpPr>
            <a:spLocks noGrp="1"/>
          </p:cNvSpPr>
          <p:nvPr>
            <p:ph type="dt" sz="half" idx="10"/>
          </p:nvPr>
        </p:nvSpPr>
        <p:spPr/>
        <p:txBody>
          <a:bodyPr/>
          <a:lstStyle/>
          <a:p>
            <a:fld id="{007C0C02-280B-4F3B-9249-E4F997E28E2C}" type="datetime3">
              <a:rPr lang="en-US" smtClean="0"/>
              <a:t>4 October 2024</a:t>
            </a:fld>
            <a:endParaRPr lang="en-US"/>
          </a:p>
        </p:txBody>
      </p:sp>
      <p:sp>
        <p:nvSpPr>
          <p:cNvPr id="7" name="Slide Number Placeholder 6">
            <a:extLst>
              <a:ext uri="{FF2B5EF4-FFF2-40B4-BE49-F238E27FC236}">
                <a16:creationId xmlns:a16="http://schemas.microsoft.com/office/drawing/2014/main" id="{89E81BC7-D526-441E-9955-3396619EE668}"/>
              </a:ext>
            </a:extLst>
          </p:cNvPr>
          <p:cNvSpPr>
            <a:spLocks noGrp="1"/>
          </p:cNvSpPr>
          <p:nvPr>
            <p:ph type="sldNum" sz="quarter" idx="12"/>
          </p:nvPr>
        </p:nvSpPr>
        <p:spPr/>
        <p:txBody>
          <a:bodyPr/>
          <a:lstStyle/>
          <a:p>
            <a:fld id="{7B28076C-CE04-4A00-BFAA-A90EA8355859}" type="slidenum">
              <a:rPr lang="en-US" smtClean="0"/>
              <a:pPr/>
              <a:t>15</a:t>
            </a:fld>
            <a:endParaRPr lang="en-US"/>
          </a:p>
        </p:txBody>
      </p:sp>
      <p:sp>
        <p:nvSpPr>
          <p:cNvPr id="9" name="TextBox 8">
            <a:extLst>
              <a:ext uri="{FF2B5EF4-FFF2-40B4-BE49-F238E27FC236}">
                <a16:creationId xmlns:a16="http://schemas.microsoft.com/office/drawing/2014/main" id="{263D7370-7085-4FB8-8DCE-ED8FA641FC1E}"/>
              </a:ext>
            </a:extLst>
          </p:cNvPr>
          <p:cNvSpPr txBox="1"/>
          <p:nvPr/>
        </p:nvSpPr>
        <p:spPr>
          <a:xfrm>
            <a:off x="215452" y="381000"/>
            <a:ext cx="7924800" cy="523220"/>
          </a:xfrm>
          <a:prstGeom prst="rect">
            <a:avLst/>
          </a:prstGeom>
          <a:noFill/>
        </p:spPr>
        <p:txBody>
          <a:bodyPr wrap="square">
            <a:spAutoFit/>
          </a:bodyPr>
          <a:lstStyle/>
          <a:p>
            <a:pPr algn="ctr"/>
            <a:r>
              <a:rPr lang="en-IN" sz="2800" b="1" dirty="0">
                <a:solidFill>
                  <a:schemeClr val="accent2">
                    <a:lumMod val="75000"/>
                  </a:schemeClr>
                </a:solidFill>
                <a:latin typeface="Arial" panose="020B0604020202020204" pitchFamily="34" charset="0"/>
                <a:cs typeface="Arial" panose="020B0604020202020204" pitchFamily="34" charset="0"/>
              </a:rPr>
              <a:t>EARLY-STAGE DIABETES RISK PREDICTION </a:t>
            </a:r>
            <a:endParaRPr lang="en-US" sz="2800" b="1" dirty="0">
              <a:solidFill>
                <a:schemeClr val="accent2">
                  <a:lumMod val="75000"/>
                </a:schemeClr>
              </a:solidFill>
              <a:latin typeface="Arial" panose="020B0604020202020204" pitchFamily="34" charset="0"/>
              <a:cs typeface="Arial" panose="020B0604020202020204" pitchFamily="34" charset="0"/>
            </a:endParaRPr>
          </a:p>
        </p:txBody>
      </p:sp>
      <p:pic>
        <p:nvPicPr>
          <p:cNvPr id="1026" name="Picture 2" descr="Q&amp;amp;A with Evan Lamolinara: Selling in a Time of Crisis">
            <a:extLst>
              <a:ext uri="{FF2B5EF4-FFF2-40B4-BE49-F238E27FC236}">
                <a16:creationId xmlns:a16="http://schemas.microsoft.com/office/drawing/2014/main" id="{7B822DF8-10EE-4838-8546-F5EAD6DB74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7494" y="3200400"/>
            <a:ext cx="4331493" cy="2314575"/>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F482EB4D-88EA-D47D-263F-9EA8F37319D6}"/>
              </a:ext>
            </a:extLst>
          </p:cNvPr>
          <p:cNvSpPr>
            <a:spLocks noGrp="1"/>
          </p:cNvSpPr>
          <p:nvPr>
            <p:ph type="ftr" sz="quarter" idx="4294967295"/>
          </p:nvPr>
        </p:nvSpPr>
        <p:spPr>
          <a:xfrm>
            <a:off x="2857500" y="6469690"/>
            <a:ext cx="3429000" cy="365125"/>
          </a:xfrm>
        </p:spPr>
        <p:txBody>
          <a:bodyPr/>
          <a:lstStyle/>
          <a:p>
            <a:r>
              <a:rPr lang="en-US" dirty="0"/>
              <a:t>Department of Computer Science and Engineering</a:t>
            </a:r>
            <a:endParaRPr lang="en-US" b="1" dirty="0"/>
          </a:p>
        </p:txBody>
      </p:sp>
    </p:spTree>
    <p:extLst>
      <p:ext uri="{BB962C8B-B14F-4D97-AF65-F5344CB8AC3E}">
        <p14:creationId xmlns:p14="http://schemas.microsoft.com/office/powerpoint/2010/main" val="3538550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47DE25-20B9-4305-B47C-480F46A3636B}"/>
              </a:ext>
            </a:extLst>
          </p:cNvPr>
          <p:cNvSpPr>
            <a:spLocks noGrp="1"/>
          </p:cNvSpPr>
          <p:nvPr>
            <p:ph type="title"/>
          </p:nvPr>
        </p:nvSpPr>
        <p:spPr>
          <a:xfrm>
            <a:off x="152400" y="533400"/>
            <a:ext cx="8229600" cy="822357"/>
          </a:xfrm>
        </p:spPr>
        <p:txBody>
          <a:bodyPr>
            <a:normAutofit fontScale="90000"/>
          </a:bodyPr>
          <a:lstStyle/>
          <a:p>
            <a:r>
              <a:rPr lang="en-IN" sz="3100" b="1" dirty="0">
                <a:solidFill>
                  <a:schemeClr val="accent2">
                    <a:lumMod val="75000"/>
                  </a:schemeClr>
                </a:solidFill>
                <a:latin typeface="Arial" panose="020B0604020202020204" pitchFamily="34" charset="0"/>
                <a:cs typeface="Arial" panose="020B0604020202020204" pitchFamily="34" charset="0"/>
              </a:rPr>
              <a:t>EARLY-STAGE DIABETES RISK PREDICTION </a:t>
            </a:r>
            <a:r>
              <a:rPr lang="en-US" sz="4400" b="1" dirty="0">
                <a:solidFill>
                  <a:schemeClr val="accent2">
                    <a:lumMod val="75000"/>
                  </a:schemeClr>
                </a:solidFill>
                <a:latin typeface="Arial" panose="020B0604020202020204" pitchFamily="34" charset="0"/>
                <a:cs typeface="Arial" panose="020B0604020202020204" pitchFamily="34" charset="0"/>
              </a:rPr>
              <a:t/>
            </a:r>
            <a:br>
              <a:rPr lang="en-US" sz="4400" b="1" dirty="0">
                <a:solidFill>
                  <a:schemeClr val="accent2">
                    <a:lumMod val="75000"/>
                  </a:schemeClr>
                </a:solidFill>
                <a:latin typeface="Arial" panose="020B0604020202020204" pitchFamily="34" charset="0"/>
                <a:cs typeface="Arial" panose="020B0604020202020204" pitchFamily="34" charset="0"/>
              </a:rPr>
            </a:br>
            <a:endParaRPr lang="en-IN" dirty="0"/>
          </a:p>
        </p:txBody>
      </p:sp>
      <p:sp>
        <p:nvSpPr>
          <p:cNvPr id="5" name="Date Placeholder 4">
            <a:extLst>
              <a:ext uri="{FF2B5EF4-FFF2-40B4-BE49-F238E27FC236}">
                <a16:creationId xmlns:a16="http://schemas.microsoft.com/office/drawing/2014/main" id="{00AA22C1-60C2-4D5B-A610-694C147D4E9D}"/>
              </a:ext>
            </a:extLst>
          </p:cNvPr>
          <p:cNvSpPr>
            <a:spLocks noGrp="1"/>
          </p:cNvSpPr>
          <p:nvPr>
            <p:ph type="dt" sz="half" idx="10"/>
          </p:nvPr>
        </p:nvSpPr>
        <p:spPr/>
        <p:txBody>
          <a:bodyPr/>
          <a:lstStyle/>
          <a:p>
            <a:fld id="{D64BE68C-FBAC-4C0D-BD35-CE8943CBDA28}" type="datetime3">
              <a:rPr lang="en-US" smtClean="0"/>
              <a:t>4 October 2024</a:t>
            </a:fld>
            <a:endParaRPr lang="en-US"/>
          </a:p>
        </p:txBody>
      </p:sp>
      <p:sp>
        <p:nvSpPr>
          <p:cNvPr id="7" name="Slide Number Placeholder 6">
            <a:extLst>
              <a:ext uri="{FF2B5EF4-FFF2-40B4-BE49-F238E27FC236}">
                <a16:creationId xmlns:a16="http://schemas.microsoft.com/office/drawing/2014/main" id="{203E045D-144D-4F99-ADE1-D7B18AFFF5BD}"/>
              </a:ext>
            </a:extLst>
          </p:cNvPr>
          <p:cNvSpPr>
            <a:spLocks noGrp="1"/>
          </p:cNvSpPr>
          <p:nvPr>
            <p:ph type="sldNum" sz="quarter" idx="12"/>
          </p:nvPr>
        </p:nvSpPr>
        <p:spPr/>
        <p:txBody>
          <a:bodyPr/>
          <a:lstStyle/>
          <a:p>
            <a:fld id="{7B28076C-CE04-4A00-BFAA-A90EA8355859}" type="slidenum">
              <a:rPr lang="en-US" smtClean="0"/>
              <a:pPr/>
              <a:t>16</a:t>
            </a:fld>
            <a:endParaRPr lang="en-US"/>
          </a:p>
        </p:txBody>
      </p:sp>
      <p:pic>
        <p:nvPicPr>
          <p:cNvPr id="15" name="Content Placeholder 14">
            <a:extLst>
              <a:ext uri="{FF2B5EF4-FFF2-40B4-BE49-F238E27FC236}">
                <a16:creationId xmlns:a16="http://schemas.microsoft.com/office/drawing/2014/main" id="{1406EB4F-68AF-4A71-B01E-587AC0EB65E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40050" y="2667000"/>
            <a:ext cx="6011905" cy="2225707"/>
          </a:xfrm>
        </p:spPr>
      </p:pic>
      <p:sp>
        <p:nvSpPr>
          <p:cNvPr id="2" name="Footer Placeholder 1">
            <a:extLst>
              <a:ext uri="{FF2B5EF4-FFF2-40B4-BE49-F238E27FC236}">
                <a16:creationId xmlns:a16="http://schemas.microsoft.com/office/drawing/2014/main" id="{58F98646-4A60-42C1-9936-B559100147A1}"/>
              </a:ext>
            </a:extLst>
          </p:cNvPr>
          <p:cNvSpPr>
            <a:spLocks noGrp="1"/>
          </p:cNvSpPr>
          <p:nvPr>
            <p:ph type="ftr" sz="quarter" idx="4294967295"/>
          </p:nvPr>
        </p:nvSpPr>
        <p:spPr>
          <a:xfrm>
            <a:off x="2931502" y="6492875"/>
            <a:ext cx="3429000" cy="365125"/>
          </a:xfrm>
        </p:spPr>
        <p:txBody>
          <a:bodyPr/>
          <a:lstStyle/>
          <a:p>
            <a:r>
              <a:rPr lang="en-US" dirty="0"/>
              <a:t>Department of Computer Science and Engineering</a:t>
            </a:r>
            <a:endParaRPr lang="en-US" b="1" dirty="0"/>
          </a:p>
        </p:txBody>
      </p:sp>
    </p:spTree>
    <p:extLst>
      <p:ext uri="{BB962C8B-B14F-4D97-AF65-F5344CB8AC3E}">
        <p14:creationId xmlns:p14="http://schemas.microsoft.com/office/powerpoint/2010/main" val="258364768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1126</TotalTime>
  <Words>769</Words>
  <Application>Microsoft Office PowerPoint</Application>
  <PresentationFormat>On-screen Show (4:3)</PresentationFormat>
  <Paragraphs>140</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Custom Design</vt:lpstr>
      <vt:lpstr>PowerPoint Presentation</vt:lpstr>
      <vt:lpstr>                PRESENTATION OUTLINE</vt:lpstr>
      <vt:lpstr>COURSE CERTIFICATE</vt:lpstr>
      <vt:lpstr>ABSTRACT</vt:lpstr>
      <vt:lpstr>                           OBJECTIVES</vt:lpstr>
      <vt:lpstr>                  SYSTEM ARCHITECTURE</vt:lpstr>
      <vt:lpstr>HARDWARE AND SOFTWARE REQUIREMENTS</vt:lpstr>
      <vt:lpstr>  DATASET DESCRIPTION</vt:lpstr>
      <vt:lpstr>CLASSIFICATION ALGORTIHM</vt:lpstr>
      <vt:lpstr>               RESULTS AND DISCUSSION</vt:lpstr>
      <vt:lpstr>               RESULTS AND DISCUSSION</vt:lpstr>
      <vt:lpstr>               RESULTS AND DISCUSSION</vt:lpstr>
      <vt:lpstr>        CONCLUSION &amp; FUTURE WORK </vt:lpstr>
      <vt:lpstr>REFERENCES</vt:lpstr>
      <vt:lpstr>PowerPoint Presentation</vt:lpstr>
      <vt:lpstr>EARLY-STAGE DIABETES RISK PREDICTION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R.Sathya Bama</dc:creator>
  <cp:lastModifiedBy>admin</cp:lastModifiedBy>
  <cp:revision>150</cp:revision>
  <dcterms:created xsi:type="dcterms:W3CDTF">2019-11-06T07:48:53Z</dcterms:created>
  <dcterms:modified xsi:type="dcterms:W3CDTF">2024-10-04T18:51:34Z</dcterms:modified>
</cp:coreProperties>
</file>