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1" r:id="rId2"/>
    <p:sldId id="290" r:id="rId3"/>
    <p:sldId id="301" r:id="rId4"/>
    <p:sldId id="293" r:id="rId5"/>
    <p:sldId id="279" r:id="rId6"/>
    <p:sldId id="281" r:id="rId7"/>
    <p:sldId id="282" r:id="rId8"/>
    <p:sldId id="294" r:id="rId9"/>
    <p:sldId id="298" r:id="rId10"/>
    <p:sldId id="284" r:id="rId11"/>
    <p:sldId id="297" r:id="rId12"/>
    <p:sldId id="299" r:id="rId13"/>
    <p:sldId id="285" r:id="rId14"/>
    <p:sldId id="300" r:id="rId15"/>
    <p:sldId id="303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DAY KIRAN PALAGIRI" initials="UKP" lastIdx="1" clrIdx="0">
    <p:extLst>
      <p:ext uri="{19B8F6BF-5375-455C-9EA6-DF929625EA0E}">
        <p15:presenceInfo xmlns:p15="http://schemas.microsoft.com/office/powerpoint/2012/main" userId="e472569547126c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590" autoAdjust="0"/>
  </p:normalViewPr>
  <p:slideViewPr>
    <p:cSldViewPr>
      <p:cViewPr varScale="1">
        <p:scale>
          <a:sx n="69" d="100"/>
          <a:sy n="69" d="100"/>
        </p:scale>
        <p:origin x="14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10/4/2024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0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7523-A487-4FE9-8778-92BDA7517582}" type="datetime3">
              <a:rPr lang="en-US" smtClean="0"/>
              <a:t>4 October 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367A52-E3CF-44E7-B0BD-2053F5B160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EC64D-F80B-464F-89C3-2C0C7C294EBF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85EDBD-DC0D-4DCF-81FB-0320C8338C0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6661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65C4-3BB2-4B01-820C-4E42CDD2D7BA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E260E4-5885-4162-9A9B-BD4B1C73E9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4013" y="6389431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3940-8A3E-4B8C-BA89-72544308E101}" type="datetime3">
              <a:rPr lang="en-US" smtClean="0"/>
              <a:t>4 October 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8B22EFA-7C55-4B48-8CEC-77BD23D1F9A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90968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D70D-4F90-46A2-A4D5-86B0366C7C54}" type="datetime3">
              <a:rPr lang="en-US" smtClean="0"/>
              <a:t>4 October 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314DE0-B936-4362-B52E-B063EB0F5B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82722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4E7F-8CFC-484D-B36C-9771C89F821F}" type="datetime3">
              <a:rPr lang="en-US" smtClean="0"/>
              <a:t>4 October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CB0626-7066-48BC-A8A8-03E38DC766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49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6F411-3972-A5E9-8F49-58607FEB308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01412"/>
            <a:ext cx="812675" cy="9696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F92B4-9B1E-4C15-8CEE-666DADDF8AF0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chive.ics.uci.edu/ml/datasets/Early+stage+diabetes+risk+prediction+dataset" TargetMode="External"/><Relationship Id="rId3" Type="http://schemas.openxmlformats.org/officeDocument/2006/relationships/hyperlink" Target="https://www.healthline.com/health/diabetes" TargetMode="External"/><Relationship Id="rId4" Type="http://schemas.openxmlformats.org/officeDocument/2006/relationships/hyperlink" Target="https://towardsdatascience.com/understanding-random-forest-58381e0602d2" TargetMode="External"/><Relationship Id="rId5" Type="http://schemas.openxmlformats.org/officeDocument/2006/relationships/hyperlink" Target="https://scikit-learn.org/stable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497" y="22098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600" b="1"/>
              <a:t>Subject Code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/>
              <a:t>PT I - INTERDISCIPLINARY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09198"/>
            <a:ext cx="5112490" cy="1529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1"/>
              <a:t>1. N. Diwakar [ Reg.No. : 44731156 ]</a:t>
            </a:r>
          </a:p>
          <a:p>
            <a:r>
              <a:rPr sz="1600" b="1"/>
              <a:t>2. Alexiya Fernando [ Reg.No. : 44731004 ]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D4C8-8F1C-450E-98BD-5D769418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7F4B-9193-457D-9817-7BB1C17946D0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B7-8EDB-4EBE-9273-5F8107C6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image2.jpeg">
            <a:extLst>
              <a:ext uri="{FF2B5EF4-FFF2-40B4-BE49-F238E27FC236}">
                <a16:creationId xmlns:a16="http://schemas.microsoft.com/office/drawing/2014/main" id="{41D730E6-1A36-D6AA-9C57-707732AD6B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28" y="183642"/>
            <a:ext cx="8598195" cy="184359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0983F1-418B-F172-25AC-56A554474B23}"/>
              </a:ext>
            </a:extLst>
          </p:cNvPr>
          <p:cNvSpPr txBox="1"/>
          <p:nvPr/>
        </p:nvSpPr>
        <p:spPr>
          <a:xfrm>
            <a:off x="2251445" y="3988369"/>
            <a:ext cx="464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030A0"/>
                </a:solidFill>
              </a:rPr>
              <a:t>CLINIC APPOINTMENT BOOKING AND
REAL-TIME QUEUE MANAGEMENT SYSTEM</a:t>
            </a:r>
            <a:endParaRPr lang="en-IN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EFADC-5F7F-0D34-EF41-FCA8211454DE}"/>
              </a:ext>
            </a:extLst>
          </p:cNvPr>
          <p:cNvSpPr txBox="1"/>
          <p:nvPr/>
        </p:nvSpPr>
        <p:spPr>
          <a:xfrm>
            <a:off x="5410200" y="5293702"/>
            <a:ext cx="464111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1600" b="1"/>
              <a:t>Internal Guide</a:t>
            </a:r>
          </a:p>
          <a:p>
            <a:r>
              <a:rPr sz="1600" b="1"/>
              <a:t>Dr. SONIA RAYEN, M.E., Ph.D.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4E8BE6-5A97-DF17-64D3-651EDD17C7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9398" y="641938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98525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 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 wrap="square">
            <a:normAutofit fontScale="92500" lnSpcReduction="20000"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COURSE CERTIFICATE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ABSTRACT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OBJECTIVES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SYSTEM ARCHITECTURE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HARDWARE AND SOFTWARE REQUIREMENTS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APPLICATION MODULES &amp; IMPLEMENTATION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CORE ALGORITHMS &amp; CONCURRENCY LOCK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RESULTS AND DISCUSSION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RESULT SNAPSHOTS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CONCLUSION &amp; FUTURE WORK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600"/>
              <a:t>REFERENCES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FFE7-5AD9-46B6-A975-97DF4CE2D32E}" type="datetime3">
              <a:rPr lang="en-US" smtClean="0"/>
              <a:t>4 October 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6745B3-6D82-53EF-2AF2-EA2FFE738C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68256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7AFF-3BB7-4D8A-B9C5-8F3B0AEE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2575"/>
            <a:ext cx="8229600" cy="8382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C00000"/>
                </a:solidFill>
              </a:rPr>
              <a:t>COURSE CERTIFICATE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D9BB-15EC-4B1C-83FD-B26D5A9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A4416-FFF4-42E4-AE7E-59EC91C8B19B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5E134-5B36-43B6-B88A-0BD46D9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Content Placeholder 9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5B975D05-FDC3-4431-B88B-62AE898E0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95400"/>
            <a:ext cx="7620000" cy="50609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9574-1770-CCF1-7960-2BEABBE58EC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9095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097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11B5-EF77-467A-8E2A-BB4AD0D8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82575"/>
            <a:ext cx="8229600" cy="838200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C0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7A90-AAE4-4CE3-8BFD-8CCF7FBE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914400"/>
            <a:ext cx="8229600" cy="5943600"/>
          </a:xfrm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  <a:endParaRPr lang="en-US" sz="2000" dirty="0"/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Outpatient clinics face severe inefficiencies: chaotic walk-in queues, double-booking collisions, 45-90 min average wait times, and paper-based prescription errors.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This project presents a 3-Tier Full-Stack Clinic Appointment Booking and Real-Time Queue Management System built with Java 17, Spring Boot 3.2.5, MySQL 8.0, and Vanilla JavaScript (ES6+).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Key innovations include concurrency-locked 30-minute dynamic slot reservations, doctor-isolated daily sequential token generation, and a zero-overhead 5-second asynchronous lobby polling display.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The system eliminates double-booking via a dual-layer locking mechanism: JPA @Transactional validation + MySQL composite unique constraint (uk_doctor_slot), achieving sub-50ms REST API latency.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Result: 100% test-case pass rate, zero race-condition failures under 50 concurrent booking attempts, and an estimated 65% reduction in patient waiting room crowding.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BA610-CC19-4227-B31D-DD5952D5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00E5-8FBA-4669-8911-1EAA60C3401A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A523-CF78-4D69-9924-645284BC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1AAA5E-D5FD-7E5B-80B1-E5B7C77D78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612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23FFF-DA4F-427A-BFC2-8006A10DFA1E}" type="datetime3">
              <a:rPr lang="en-US" smtClean="0"/>
              <a:t>4 October 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8229600" cy="655638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            OBJECTIVES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5715000"/>
          </a:xfrm>
        </p:spPr>
        <p:txBody>
          <a:bodyPr wrap="square">
            <a:normAutofit fontScale="40000" lnSpcReduction="20000"/>
          </a:bodyPr>
          <a:lstStyle/>
          <a:p>
            <a:pPr marL="514350" indent="-514350">
              <a:lnSpc>
                <a:spcPct val="115000"/>
              </a:lnSpc>
              <a:spcAft>
                <a:spcPts val="300"/>
              </a:spcAft>
              <a:buFont typeface="+mj-lt"/>
              <a:buAutoNum type="arabicPeriod"/>
            </a:pPr>
            <a:r>
              <a:rPr sz="2000">
                <a:solidFill>
                  <a:srgbClr val="292929"/>
                </a:solidFill>
              </a:rPr>
              <a:t>To develop a full-stack web application that eliminates manual outpatient queuing and double-booking collisions in clinics.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>To implement strict concurrency control using database-level composite unique constraints preventing race conditions under parallel HTTP requests.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>To engineer doctor-isolated, date-isolated sequential token generation (Token #1, #2, #3...) restarting daily per doctor.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>To deploy a real-time public waiting room display board synchronizing queue state transitions via 5-second asynchronous polling without WebSocket overhead.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>
                <a:solidFill>
                  <a:srgbClr val="292929"/>
                </a:solidFill>
              </a:rPr>
              <a:t>To build role-based dashboards for Patients, Doctors, and Administrators with digital prescription management and clinic KPI analytics.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E0C94-068A-A184-2CC7-47F5BC2E8A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597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2009" y="285398"/>
            <a:ext cx="8229600" cy="809711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   SYSTEM ARCHITECTURE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3844-EC52-4193-8255-2E1481849864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294ADC-2A46-4501-88FF-41E51214F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15" y="1905803"/>
            <a:ext cx="4423930" cy="289563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3A6D67-FCB0-493B-9BB0-179BFB6B0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40" y="1552489"/>
            <a:ext cx="3886200" cy="42672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C08D3-7A1F-0943-F691-6795272BBF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2309" y="6390039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785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AA73-1308-443C-A46F-0039F1036F17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HARDWARE AND SOFTWARE REQUIREMENTS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305800" cy="5638800"/>
          </a:xfrm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Software Requirements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Java JDK 17 LTS – Backend Runtime Environment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Spring Boot 3.2.5 – Web, Data JPA, Security Crypto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MySQL Server 8.0 – InnoDB Relational Database Engine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HTML5, CSS3, Vanilla JS ES6+ – Frontend with Fetch API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Apache Maven 3.9+ – Build &amp; Dependency Management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HikariCP – High-Performance JDBC Connection Pool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Hardware Requirements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Processor: Intel i3 / AMD Ryzen (Multi-Core x64 CPU)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RAM: Minimum 8 GB DDR4 (16 GB recommended)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Storage: 256 GB SSD (NVMe / SATA)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Network: Ethernet / Wi-Fi (LAN for clinic kiosk)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400"/>
              <a:t>Display: 1920×1080 for Waiting Room Lobby Monitor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BB034-01EE-2012-106F-5FC5D194826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64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DF3B-CCB1-4769-B759-BAB65C5F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854075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C00000"/>
                </a:solidFill>
              </a:rPr>
              <a:t>  APPLICATION MODULES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C9B57-DE89-4E88-B948-E8C1FB96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2868"/>
            <a:ext cx="8686800" cy="6629400"/>
          </a:xfrm>
        </p:spPr>
        <p:txBody>
          <a:bodyPr wrap="square">
            <a:normAutofit fontScale="55000" lnSpcReduction="20000"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292929"/>
                </a:solidFill>
              </a:rPr>
              <a:t>This system is organized into 4 core functional modules: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292929"/>
                </a:solidFill>
              </a:rPr>
              <a:t>Patient Portal : </a:t>
            </a:r>
            <a:r>
              <a:rPr sz="1600" b="0">
                <a:solidFill>
                  <a:srgbClr val="292929"/>
                </a:solidFill>
              </a:rPr>
              <a:t>Self-registration (BCrypt hashed passwords), doctor search by specialization, interactive 30-min slot picker with real-time availability, appointment history with cancellation, and digital prescription viewing.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292929"/>
                </a:solidFill>
              </a:rPr>
              <a:t>Doctor Console : </a:t>
            </a:r>
            <a:r>
              <a:rPr sz="1600" b="0">
                <a:solidFill>
                  <a:srgbClr val="292929"/>
                </a:solidFill>
              </a:rPr>
              <a:t>Today's queue dashboard with 1-click 'Call Next Patient' status transitions, clinical diagnosis and notes entry, and dynamic multi-row prescription builder with medicines table.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292929"/>
                </a:solidFill>
              </a:rPr>
              <a:t>Admin Dashboard : </a:t>
            </a:r>
            <a:r>
              <a:rPr sz="1600" b="0">
                <a:solidFill>
                  <a:srgbClr val="292929"/>
                </a:solidFill>
              </a:rPr>
              <a:t>Clinic KPI metric cards (doctors, patients, today's appointments, completed visits), doctor onboarding with weekly schedule configuration, specialization management.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>
                <a:solidFill>
                  <a:srgbClr val="292929"/>
                </a:solidFill>
              </a:rPr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 b="1">
                <a:solidFill>
                  <a:srgbClr val="292929"/>
                </a:solidFill>
              </a:rPr>
              <a:t>Live Waiting Room : </a:t>
            </a:r>
            <a:r>
              <a:rPr sz="1600" b="0">
                <a:solidFill>
                  <a:srgbClr val="292929"/>
                </a:solidFill>
              </a:rPr>
              <a:t>Public high-contrast display board polling queue status every 5 seconds showing 'Currently In Consultation', 'Next in Line', and 'Total Waiting Count'.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52CA-C05E-4ED0-93ED-B6BCCCB2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2292-ECE0-431B-8F66-CC00D08E802A}" type="datetime3">
              <a:rPr lang="en-US" smtClean="0"/>
              <a:t>4 October 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EDBC-8F67-4FF3-B903-352BC604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4B5E61-14AB-CC11-DFAB-854743EEA80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6636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82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E070-4E03-4253-AAB0-7FC68612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806449"/>
          </a:xfrm>
        </p:spPr>
        <p:txBody>
          <a:bodyPr>
            <a:normAutofit/>
          </a:bodyPr>
          <a:lstStyle/>
          <a:p>
            <a:r>
              <a:rPr sz="3600" b="1">
                <a:solidFill>
                  <a:srgbClr val="C00000"/>
                </a:solidFill>
              </a:rPr>
              <a:t>CORE ALGORITHMS &amp; CONCURRENCY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A8CB-7E9D-4408-91D4-A02B97D49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40" y="1219200"/>
            <a:ext cx="8654359" cy="4952999"/>
          </a:xfrm>
        </p:spPr>
        <p:txBody>
          <a:bodyPr wrap="square">
            <a:noAutofit/>
          </a:bodyPr>
          <a:lstStyle/>
          <a:p>
            <a:pPr algn="just">
              <a:lnSpc>
                <a:spcPct val="115000"/>
              </a:lnSpc>
              <a:spcAft>
                <a:spcPts val="300"/>
              </a:spcAft>
            </a:pPr>
            <a:r>
              <a:rPr sz="1400" b="1"/>
              <a:t>30-Min Slot Slicing Algorithm: </a:t>
            </a:r>
            <a:r>
              <a:rPr sz="1400" b="0"/>
              <a:t>Doctor working hours (e.g. 09:00–13:00) are partitioned into discrete 30-minute intervals. Each interval is compared against active bookings (BOOKED/IN_CONSULTATION) to compute real-time availability.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1"/>
              <a:t>Dual-Layer Concurrency Lock: </a:t>
            </a:r>
            <a:r>
              <a:rPr sz="1400" b="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/>
              <a:t>  Layer 1 (Application): @Transactional + existsByDoctorIdAndAppointmentDateAndAppointmentTimeAndStatusIn() throws SlotAlreadyBookedException (HTTP 409 Conflict).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/>
              <a:t>  Layer 2 (Database): MySQL composite unique constraint uk_doctor_slot(doctor_id, appointment_date, appointment_time) blocks race conditions at storage level.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1"/>
              <a:t>Sequential Token Engine: </a:t>
            </a:r>
            <a:r>
              <a:rPr sz="1400" b="0"/>
              <a:t>countByDoctorIdAndAppointmentDate() + 1 generates tokens isolated per doctor per date. Tokens restart at #1 every morning for each doctor independently.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400" b="1"/>
              <a:t>5-Sec Lobby Polling: </a:t>
            </a:r>
            <a:r>
              <a:rPr sz="1400" b="0"/>
              <a:t>setInterval(fetchQueueStatus, 5000) queries GET /api/queue/doctor/{id}/today, performing DOM diffing to update lobby display without page reload or WebSocket overhead.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C24B-E153-4BF5-8CBD-FA822331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ACDA3-B70A-4ED5-8B00-C299AEC5364E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86D35-F971-40BC-B385-31D14C56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FD63E7-5ECC-0A5E-1DFE-140A7ECEF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11619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8510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FCE9-CEA9-474A-B828-BAB00D6EE047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RESULTS AND DISCUSSION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562100"/>
            <a:ext cx="8305800" cy="3733800"/>
          </a:xfrm>
        </p:spPr>
        <p:txBody>
          <a:bodyPr wrap="square">
            <a:normAutofit fontScale="92500" lnSpcReduction="10000"/>
          </a:bodyPr>
          <a:lstStyle/>
          <a:p>
            <a:pPr algn="just">
              <a:lnSpc>
                <a:spcPct val="115000"/>
              </a:lnSpc>
              <a:spcAft>
                <a:spcPts val="300"/>
              </a:spcAft>
            </a:pPr>
            <a:r>
              <a:rPr sz="2000"/>
              <a:t>All SMART objectives achieved: zero double-booking, isolated sequential tokens, real-time 5-second lobby sync, and sub-50ms average REST API latency.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Test Coverage: 10 formal test cases (TC-01 to TC-10) executed with 100% pass rate across BCrypt authentication, slot slicing, token sequencing, queue transitions, prescription persistence, and appointment cancellation workflows.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Concurrency Stress Test: 50 parallel HTTP requests targeting the same doctor-date-time slot: exactly 1 succeeded (201 Created), 49 cleanly rejected (409 Conflict) with zero database corruption or orphaned records.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Performance: REST API average latency 38ms, MySQL query execution &lt; 4ms with HikariCP pooling, polling CPU overhead &lt; 0.2% on waiting room display client.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43424-EC82-CB7F-E4BE-A62D763905F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86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A565-DCC2-4322-8924-3EFF3032CF26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786B90-7694-48B9-8C6F-7A47D1BC4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3890"/>
            <a:ext cx="7391400" cy="4676536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8F9E99E-9C41-4A6B-85F9-713434E1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RESULTS AND DISCUSSION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5D31A-B3F7-2582-1910-0D19BF81BF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613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E46D-727D-4065-B06F-C639051A867C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F2FE22-78D4-45D1-B52D-56C160122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57" y="1371600"/>
            <a:ext cx="7282686" cy="4525963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41E12CF-CA42-41E0-9410-74080DD3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sz="3600" b="1">
                <a:solidFill>
                  <a:srgbClr val="C00000"/>
                </a:solidFill>
              </a:rPr>
              <a:t>               RESULTS AND DISCUSSION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624BA-8821-4F34-91E5-A3CAA40321C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0537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8510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885E8-0A0F-4540-B8F3-17E0B3611BF8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r>
              <a:t/>
            </a:r>
            <a:r>
              <a:t>       </a:t>
            </a:r>
            <a:r>
              <a:rPr sz="4000" b="1">
                <a:solidFill>
                  <a:srgbClr val="C00000"/>
                </a:solidFill>
              </a:rPr>
              <a:t>CONCLUSION &amp; FUTURE WORK</a:t>
            </a:r>
            <a:r>
              <a:t/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</p:spPr>
        <p:txBody>
          <a:bodyPr wrap="square">
            <a:noAutofit/>
          </a:bodyPr>
          <a:lstStyle/>
          <a:p>
            <a:pPr algn="just">
              <a:lnSpc>
                <a:spcPct val="115000"/>
              </a:lnSpc>
              <a:spcAft>
                <a:spcPts val="300"/>
              </a:spcAft>
            </a:pPr>
            <a:r>
              <a:rPr sz="2000"/>
              <a:t>Successfully engineered a production-grade, 3-tier Clinic Appointment Booking and Queue Management System that eliminates manual queuing, prevents double-booking, and digitizes outpatient workflows.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The dual-layer concurrency locking mechanism achieved mathematical elimination of race conditions under parallel multi-user load.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The 5-second HTTP polling architecture provides real-time lobby updates without WebSocket resource exhaustion, ideal for small-to-medium clinic deployments.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Future Work: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  • SMS/WhatsApp automated appointment reminders via Twilio API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  • AI-driven symptom triage and smart doctor recommendation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  • Multi-tenant SaaS architecture for hospital chains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  • WebRTC tele-consultation for remote patient visits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2000"/>
              <a:t>  • Docker + Kubernetes containerized auto-scaling deployment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3A858-9A09-75E4-083D-37964AB27C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3700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284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6D66E7F-DEC1-45A0-8E19-12F87E4C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>
                <a:solidFill>
                  <a:srgbClr val="C00000"/>
                </a:solidFill>
              </a:rPr>
              <a:t>REFERENCES</a:t>
            </a:r>
            <a:endParaRPr lang="en-IN" sz="3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8B1995-2397-40B6-8D46-85CDDE3A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" y="1752600"/>
            <a:ext cx="8229600" cy="3352800"/>
          </a:xfrm>
        </p:spPr>
        <p:txBody>
          <a:bodyPr wrap="square">
            <a:normAutofit/>
          </a:bodyPr>
          <a:lstStyle/>
          <a:p>
            <a:pPr algn="just">
              <a:lnSpc>
                <a:spcPct val="115000"/>
              </a:lnSpc>
              <a:spcAft>
                <a:spcPts val="300"/>
              </a:spcAft>
              <a:buFont typeface="+mj-lt"/>
              <a:buAutoNum type="arabicPeriod"/>
            </a:pPr>
            <a:r>
              <a:rPr sz="1600"/>
              <a:t>[1] Gupta, D., &amp; Denton, B. (2008). Appointment scheduling in health care: Challenges and opportunities. IIE Transactions, 40(9), 800-819.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>[2] Cayirli, T., &amp; Veral, E. (2003). Outpatient scheduling in health care: A review of literature. Production and Operations Management, 12(4), 519-549.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>[3] Walls, C. (2022). Spring in Action (6th ed.). Manning Publications.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>[4] Oracle Corporation (2024). MySQL 8.0 Reference Manual: InnoDB Locking and Transaction Model. https://dev.mysql.com/doc/refman/8.0/en/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/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600"/>
              <a:t>[5] Fielding, R. T. (2000). Architectural Styles and the Design of Network-based Software Architectures. UC Irvine Dissertation.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CBF-2A96-43DD-8DC9-9DB6822F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7493-1C8C-4A3E-BCCA-11B2040A1BF5}" type="datetime3">
              <a:rPr lang="en-US" smtClean="0"/>
              <a:t>4 October 2024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27FD1-9FC2-420E-9264-EA7A9A06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E2B5-4820-CC59-842B-AFA5E602A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9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E30F7-CE19-4B37-83CB-B7735D94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0C02-280B-4F3B-9249-E4F997E28E2C}" type="datetime3">
              <a:rPr lang="en-US" smtClean="0"/>
              <a:t>4 October 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81BC7-D526-441E-9955-3396619E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D7370-7085-4FB8-8DCE-ED8FA641FC1E}"/>
              </a:ext>
            </a:extLst>
          </p:cNvPr>
          <p:cNvSpPr txBox="1"/>
          <p:nvPr/>
        </p:nvSpPr>
        <p:spPr>
          <a:xfrm>
            <a:off x="215452" y="381000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CLINIC APPOINTMENT BOOKING AND REAL-TIME QUEUE MANAGEMENT SYSTEM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Q&amp;amp;A with Evan Lamolinara: Selling in a Time of Crisis">
            <a:extLst>
              <a:ext uri="{FF2B5EF4-FFF2-40B4-BE49-F238E27FC236}">
                <a16:creationId xmlns:a16="http://schemas.microsoft.com/office/drawing/2014/main" id="{7B822DF8-10EE-4838-8546-F5EAD6DB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494" y="3200400"/>
            <a:ext cx="4331493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2EB4D-88EA-D47D-263F-9EA8F37319D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6969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855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47DE25-20B9-4305-B47C-480F46A3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8229600" cy="822357"/>
          </a:xfrm>
        </p:spPr>
        <p:txBody>
          <a:bodyPr>
            <a:normAutofit fontScale="90000"/>
          </a:bodyPr>
          <a:lstStyle/>
          <a:p>
            <a:r>
              <a:rPr sz="3000" b="1"/>
              <a:t>CLINIC APPOINTMENT BOOKING SYSTEM </a:t>
            </a:r>
            <a:r>
              <a:rPr sz="4400" b="1"/>
              <a:t/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A22C1-60C2-4D5B-A610-694C147D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BE68C-FBAC-4C0D-BD35-CE8943CBDA28}" type="datetime3">
              <a:rPr lang="en-US" smtClean="0"/>
              <a:t>4 October 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E045D-144D-4F99-ADE1-D7B18AF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406EB4F-68AF-4A71-B01E-587AC0EB6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050" y="2667000"/>
            <a:ext cx="6011905" cy="2225707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F98646-4A60-42C1-9936-B559100147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1502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836476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769</Words>
  <Application>Microsoft Office PowerPoint</Application>
  <PresentationFormat>On-screen Show (4:3)</PresentationFormat>
  <Paragraphs>140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Custom Design</vt:lpstr>
      <vt:lpstr>PowerPoint Presentation</vt:lpstr>
      <vt:lpstr>                PRESENTATION OUTLINE</vt:lpstr>
      <vt:lpstr>COURSE CERTIFICATE</vt:lpstr>
      <vt:lpstr>ABSTRACT</vt:lpstr>
      <vt:lpstr>                           OBJECTIVES</vt:lpstr>
      <vt:lpstr>                  SYSTEM ARCHITECTURE</vt:lpstr>
      <vt:lpstr>HARDWARE AND SOFTWARE REQUIREMENTS</vt:lpstr>
      <vt:lpstr>  DATASET DESCRIPTION</vt:lpstr>
      <vt:lpstr>CLASSIFICATION ALGORTIHM</vt:lpstr>
      <vt:lpstr>               RESULTS AND DISCUSSION</vt:lpstr>
      <vt:lpstr>               RESULTS AND DISCUSSION</vt:lpstr>
      <vt:lpstr>               RESULTS AND DISCUSSION</vt:lpstr>
      <vt:lpstr>        CONCLUSION &amp; FUTURE WORK </vt:lpstr>
      <vt:lpstr>REFERENCES</vt:lpstr>
      <vt:lpstr>PowerPoint Presentation</vt:lpstr>
      <vt:lpstr>EARLY-STAGE DIABETES RISK PREDICTION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R.Sathya Bama</dc:creator>
  <cp:lastModifiedBy>admin</cp:lastModifiedBy>
  <cp:revision>150</cp:revision>
  <dcterms:created xsi:type="dcterms:W3CDTF">2019-11-06T07:48:53Z</dcterms:created>
  <dcterms:modified xsi:type="dcterms:W3CDTF">2024-10-04T18:51:34Z</dcterms:modified>
</cp:coreProperties>
</file>